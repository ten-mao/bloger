
<file path=[Content_Types].xml><?xml version="1.0" encoding="utf-8"?>
<Types xmlns="http://schemas.openxmlformats.org/package/2006/content-types">
  <Default Extension="jpeg" ContentType="image/jpeg"/>
  <Default Extension="jpg&amp;ehk=JplscHgu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62"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270"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795"/>
    <p:restoredTop sz="62013"/>
  </p:normalViewPr>
  <p:slideViewPr>
    <p:cSldViewPr snapToGrid="0">
      <p:cViewPr varScale="1">
        <p:scale>
          <a:sx n="78" d="100"/>
          <a:sy n="78" d="100"/>
        </p:scale>
        <p:origin x="112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B3FC0-9320-354C-883A-545AB6B54CB9}" type="datetimeFigureOut">
              <a:rPr kumimoji="1" lang="zh-CN" altLang="en-US" smtClean="0"/>
              <a:t>2026/7/21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438545-0422-F14B-8860-F4EBB1684D97}" type="slidenum">
              <a:rPr kumimoji="1" lang="zh-CN" altLang="en-US" smtClean="0"/>
              <a:t>‹#›</a:t>
            </a:fld>
            <a:endParaRPr kumimoji="1" lang="zh-CN" altLang="en-US"/>
          </a:p>
        </p:txBody>
      </p:sp>
    </p:spTree>
    <p:extLst>
      <p:ext uri="{BB962C8B-B14F-4D97-AF65-F5344CB8AC3E}">
        <p14:creationId xmlns:p14="http://schemas.microsoft.com/office/powerpoint/2010/main" val="3758424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Good morning, everyone. I am Yimeng Bai. Today I present BLOGER, Bi-Level Optimization for Generative Recommendation. As the subtitle says, our goal is bridging tokenization and generation: the two stages depend on each other, yet they are usually optimized separately.</a:t>
            </a:r>
          </a:p>
          <a:p>
            <a:pPr algn="l"/>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a:t>
            </a:fld>
            <a:endParaRPr kumimoji="1" lang="zh-CN" altLang="en-US"/>
          </a:p>
        </p:txBody>
      </p:sp>
    </p:spTree>
    <p:extLst>
      <p:ext uri="{BB962C8B-B14F-4D97-AF65-F5344CB8AC3E}">
        <p14:creationId xmlns:p14="http://schemas.microsoft.com/office/powerpoint/2010/main" val="2404645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The talk has four parts: Background on the alignment gap, our Methodology — the bi-level formulation and its solution — then Experiments and the Conclusion.</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2</a:t>
            </a:fld>
            <a:endParaRPr kumimoji="1" lang="zh-CN" altLang="en-US"/>
          </a:p>
        </p:txBody>
      </p:sp>
    </p:spTree>
    <p:extLst>
      <p:ext uri="{BB962C8B-B14F-4D97-AF65-F5344CB8AC3E}">
        <p14:creationId xmlns:p14="http://schemas.microsoft.com/office/powerpoint/2010/main" val="3511428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SID-based generative recommendation has two coupled stages: the model autoregressively generates the next item's identifier instead of matching each candidate, and an item tokenizer maps items into compact discrete representations — typically RQ-VAE or RQ-Kmeans.</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Tokenization is critical: it enables direct generation in the pre-defined token space, improves scalability through small shared codebooks, and generalizes to new and long-tail items via content-derived identifiers.</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3</a:t>
            </a:fld>
            <a:endParaRPr kumimoji="1" lang="zh-CN" altLang="en-US"/>
          </a:p>
        </p:txBody>
      </p:sp>
    </p:spTree>
    <p:extLst>
      <p:ext uri="{BB962C8B-B14F-4D97-AF65-F5344CB8AC3E}">
        <p14:creationId xmlns:p14="http://schemas.microsoft.com/office/powerpoint/2010/main" val="2486714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However, existing works treat tokenization and generation as independent components. In sequential optimization, the tokenizer is trained first and produces static item IDs for the recommender. In alternating optimization, the two modules are updated iteratively.</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The takeaway at the bottom: decoupled optimization trains the tokenizer without recommendation guidance, yielding misaligned identifiers that hurt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u="none" strike="noStrike" dirty="0">
              <a:solidFill>
                <a:srgbClr val="FFFFFF"/>
              </a:solidFill>
              <a:effectLst/>
              <a:latin typeface="-apple-system"/>
            </a:endParaRPr>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4</a:t>
            </a:fld>
            <a:endParaRPr kumimoji="1" lang="zh-CN" altLang="en-US"/>
          </a:p>
        </p:txBody>
      </p:sp>
    </p:spTree>
    <p:extLst>
      <p:ext uri="{BB962C8B-B14F-4D97-AF65-F5344CB8AC3E}">
        <p14:creationId xmlns:p14="http://schemas.microsoft.com/office/powerpoint/2010/main" val="2436203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The root cause: separate training breaks this interdependence. A better tokenizer yields better item representations and predictions, while the recommender needs recommendation-aligned identifiers.</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Our key insight: the tokenizer's efficacy is directly reflected in the recommender's performance. So we reformulate the problem as bi-level optimization — the inner level trains the recommender on tokenized inputs; the outer level optimizes the tokenizer with both tokenization and recommendation losses.</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5</a:t>
            </a:fld>
            <a:endParaRPr kumimoji="1" lang="zh-CN" altLang="en-US"/>
          </a:p>
        </p:txBody>
      </p:sp>
    </p:spTree>
    <p:extLst>
      <p:ext uri="{BB962C8B-B14F-4D97-AF65-F5344CB8AC3E}">
        <p14:creationId xmlns:p14="http://schemas.microsoft.com/office/powerpoint/2010/main" val="3931857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Prior strategies decouple the two stages: sequential training freezes the tokenizer after pre-training; alternating training relies on hand-crafted auxiliary alignment losses.</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BLOGER uses this unified bi-level objective. The inner problem trains the recommender under the current tokenizer; the outer problem updates the tokenizer with the optimized recommender's loss plus the tokenization loss weighted by lambda. The recommendation loss directly supervises the tokenizer — no auxiliary objective.</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6</a:t>
            </a:fld>
            <a:endParaRPr kumimoji="1" lang="zh-CN" altLang="en-US"/>
          </a:p>
        </p:txBody>
      </p:sp>
    </p:spTree>
    <p:extLst>
      <p:ext uri="{BB962C8B-B14F-4D97-AF65-F5344CB8AC3E}">
        <p14:creationId xmlns:p14="http://schemas.microsoft.com/office/powerpoint/2010/main" val="2618814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This slide shows the full framework: a T5 encoder-decoder recommender and an RQ-VAE tokenizer, trained jointly.</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BLOGER has three key components, matching three challenges. First, a mixed representation over codebook probabilities makes the recommendation loss differentiable with respect to the tokenizer. Second, a meta-learning strategy enables efficient bi-level optimization. Third, gradient surgery extracts the beneficial, conflict-free component of the recommendation gradient. I will explain each in turn.</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7</a:t>
            </a:fld>
            <a:endParaRPr kumimoji="1" lang="zh-CN" altLang="en-US"/>
          </a:p>
        </p:txBody>
      </p:sp>
    </p:spTree>
    <p:extLst>
      <p:ext uri="{BB962C8B-B14F-4D97-AF65-F5344CB8AC3E}">
        <p14:creationId xmlns:p14="http://schemas.microsoft.com/office/powerpoint/2010/main" val="382538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Our tokenizer represents each item as L discrete tokens via residual quantization over L codebooks. At each level, a soft assignment gives a probability distribution over codes; the hard token is the most likely code, and the residual passes to the next level. Summing the selected codes reconstructs the semantic embedding. The loss combines reconstruction and commitment with stop-gradient.</a:t>
            </a:r>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8</a:t>
            </a:fld>
            <a:endParaRPr kumimoji="1" lang="zh-CN" altLang="en-US"/>
          </a:p>
        </p:txBody>
      </p:sp>
    </p:spTree>
    <p:extLst>
      <p:ext uri="{BB962C8B-B14F-4D97-AF65-F5344CB8AC3E}">
        <p14:creationId xmlns:p14="http://schemas.microsoft.com/office/powerpoint/2010/main" val="3229836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The first challenge: discrete tokenization is non-differentiable, blocking gradient flow to the tokenizer.</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We build a soft embedding — the weighted average of vocabulary embeddings under the soft-assignment probabilities — and combine it with the hard embedding through this mixed representation with stop-gradient: same value forward, but gradients flow only through the soft part backward.</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So standard Seq2Seq training on the T5 recommender now has a differentiable path back to the tokenizer.</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9</a:t>
            </a:fld>
            <a:endParaRPr kumimoji="1" lang="zh-CN" altLang="en-US"/>
          </a:p>
        </p:txBody>
      </p:sp>
    </p:spTree>
    <p:extLst>
      <p:ext uri="{BB962C8B-B14F-4D97-AF65-F5344CB8AC3E}">
        <p14:creationId xmlns:p14="http://schemas.microsoft.com/office/powerpoint/2010/main" val="2396191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The second challenge: the nested optimization is hard to solve directly, so we adopt a MAML-style meta-learning strategy with three steps.</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First, the inner update: the recommender is updated as usual. Second, meta-train: with the tokenizer fixed, we make a tentative recommender update, obtaining theta-prime. Third, meta-test: we update the tokenizer using the recommendation loss at theta-prime together with the tokenization loss.</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The back-propagation path at the bottom is the key: the outer gradient flows through the tentative update into the tokenizer, so it learns identifiers that actually help the recommender, without full inner-loop optimization.</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10</a:t>
            </a:fld>
            <a:endParaRPr kumimoji="1" lang="zh-CN" altLang="en-US"/>
          </a:p>
        </p:txBody>
      </p:sp>
    </p:spTree>
    <p:extLst>
      <p:ext uri="{BB962C8B-B14F-4D97-AF65-F5344CB8AC3E}">
        <p14:creationId xmlns:p14="http://schemas.microsoft.com/office/powerpoint/2010/main" val="2142793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The third challenge: the outer update mixes the recommendation gradient and the tokenization gradient, and we observe gradient conflict — negative cosine similarity — in up to 90 percent of parameter groups. Improving recommendation can damage the learned semantic structure.</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So we apply gradient surgery: when the dot product is negative, we project out the conflicting component of the recommendation gradient. After projection the dot product is zero — conflict removed, benefit retained. This is done per named parameter group, for finer-grained mitigation.</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11</a:t>
            </a:fld>
            <a:endParaRPr kumimoji="1" lang="zh-CN" altLang="en-US"/>
          </a:p>
        </p:txBody>
      </p:sp>
    </p:spTree>
    <p:extLst>
      <p:ext uri="{BB962C8B-B14F-4D97-AF65-F5344CB8AC3E}">
        <p14:creationId xmlns:p14="http://schemas.microsoft.com/office/powerpoint/2010/main" val="3277553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Putting it together, Algorithm 1 is simple: at each step, update the recommender; every M steps, make the tentative update, compute the two outer gradients, apply surgery, and update the tokenizer. Delaying tokenizer updates gives more stable gradients.</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Training cost stays in the same order as TIGER, and inference complexity is identical — no significant overhead.</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12</a:t>
            </a:fld>
            <a:endParaRPr kumimoji="1" lang="zh-CN" altLang="en-US"/>
          </a:p>
        </p:txBody>
      </p:sp>
    </p:spTree>
    <p:extLst>
      <p:ext uri="{BB962C8B-B14F-4D97-AF65-F5344CB8AC3E}">
        <p14:creationId xmlns:p14="http://schemas.microsoft.com/office/powerpoint/2010/main" val="340561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We evaluate on three Amazon Review subsets — Beauty, Instruments, and Arts — with 5-core filtering and leave-one-out split. Metrics are Recall and NDCG, under full ranking with Trie-constrained decoding and beam search. The recommender is a compact T5 and the tokenizer a multi-level RQ-VAE — the full settings are on the slide. All three datasets are extremely sparse.</a:t>
            </a:r>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13</a:t>
            </a:fld>
            <a:endParaRPr kumimoji="1" lang="zh-CN" altLang="en-US"/>
          </a:p>
        </p:txBody>
      </p:sp>
    </p:spTree>
    <p:extLst>
      <p:ext uri="{BB962C8B-B14F-4D97-AF65-F5344CB8AC3E}">
        <p14:creationId xmlns:p14="http://schemas.microsoft.com/office/powerpoint/2010/main" val="785230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This table compares BLOGER with eleven baselines, covering conventional models, sequential models, and recent generative recommenders such as TIGER, LETTER, and ETEGRec.</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BLOGER is best in every dataset-metric combination. On Beauty, Recall improves clearly over the strongest baseline — the exact numbers are in the table — and the gains remain consistent on Instruments and Arts. So tokenization should not be a fixed upstream module — direct recommendation supervision helps.</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14</a:t>
            </a:fld>
            <a:endParaRPr kumimoji="1" lang="zh-CN" altLang="en-US"/>
          </a:p>
        </p:txBody>
      </p:sp>
    </p:spTree>
    <p:extLst>
      <p:ext uri="{BB962C8B-B14F-4D97-AF65-F5344CB8AC3E}">
        <p14:creationId xmlns:p14="http://schemas.microsoft.com/office/powerpoint/2010/main" val="1544936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We disable each design element on Beauty. The table lists BLOGER, BLOGER with LETTER, BLOGER without gradient surgery, Joint training, Joint with surgery, and the Fixed-tokenizer variant.</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Two takeaways. First, removing gradient surgery causes the sharpest drop — even below Fixed — so conflict-free gradients are essential; and adding surgery to joint training barely helps, so the bi-level structure itself matters. Second, bi-level beats Joint and Fixed, and pairing with LETTER improves further — the framework is backbone-agnostic.</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15</a:t>
            </a:fld>
            <a:endParaRPr kumimoji="1" lang="zh-CN" altLang="en-US"/>
          </a:p>
        </p:txBody>
      </p:sp>
    </p:spTree>
    <p:extLst>
      <p:ext uri="{BB962C8B-B14F-4D97-AF65-F5344CB8AC3E}">
        <p14:creationId xmlns:p14="http://schemas.microsoft.com/office/powerpoint/2010/main" val="1570393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Two hyper-parameters. The loss weight lambda balances recommendation versus tokenization supervision: too small, the weak constraint disrupts the identifier structure; too large, the recommendation loss cannot supervise. Lambda 0.5 strikes the best balance.</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The tokenizer update frequency is stable across moderate values of M; updating too frequently is harmful, because an under-optimized recommender gives unreliable meta-gradients.</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16</a:t>
            </a:fld>
            <a:endParaRPr kumimoji="1" lang="zh-CN" altLang="en-US"/>
          </a:p>
        </p:txBody>
      </p:sp>
    </p:spTree>
    <p:extLst>
      <p:ext uri="{BB962C8B-B14F-4D97-AF65-F5344CB8AC3E}">
        <p14:creationId xmlns:p14="http://schemas.microsoft.com/office/powerpoint/2010/main" val="3186068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Compared with TIGER on the same GPU, training is only slightly slower per epoch, and testing time is essentially unchanged — the exact numbers are in the table. Bi-level optimization adds minimal overhead, confirming the complexity analysis.</a:t>
            </a:r>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17</a:t>
            </a:fld>
            <a:endParaRPr kumimoji="1" lang="zh-CN" altLang="en-US"/>
          </a:p>
        </p:txBody>
      </p:sp>
    </p:spTree>
    <p:extLst>
      <p:ext uri="{BB962C8B-B14F-4D97-AF65-F5344CB8AC3E}">
        <p14:creationId xmlns:p14="http://schemas.microsoft.com/office/powerpoint/2010/main" val="1902850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To see why BLOGER works, we analyze first-level codebook utilization on Beauty. Compared with TIGER, both code density and entropy increase clearly — the numbers are on the slide — and the distribution becomes visibly more balanced. The first level carries the most information due to the residual operation, so this is exactly where it matters.</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Our interpretation: the recommendation loss acts like a compass, revealing hidden collaborative signals and correcting the text-only bias.</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18</a:t>
            </a:fld>
            <a:endParaRPr kumimoji="1" lang="zh-CN" altLang="en-US"/>
          </a:p>
        </p:txBody>
      </p:sp>
    </p:spTree>
    <p:extLst>
      <p:ext uri="{BB962C8B-B14F-4D97-AF65-F5344CB8AC3E}">
        <p14:creationId xmlns:p14="http://schemas.microsoft.com/office/powerpoint/2010/main" val="2793894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To conclude: BLOGER reformulates generative recommendation as bi-level optimization and solves it via meta-learning plus gradient surgery, letting the recommendation loss directly align tokenization with the downstream objective, at no significant overhead. Gradient surgery is critical, and gains stem mainly from better codebook utilization.</a:t>
            </a:r>
          </a:p>
          <a:p>
            <a:endParaRPr kumimoji="1" lang="zh-CN" altLang="en-US" dirty="0"/>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19</a:t>
            </a:fld>
            <a:endParaRPr kumimoji="1" lang="zh-CN" altLang="en-US"/>
          </a:p>
        </p:txBody>
      </p:sp>
    </p:spTree>
    <p:extLst>
      <p:ext uri="{BB962C8B-B14F-4D97-AF65-F5344CB8AC3E}">
        <p14:creationId xmlns:p14="http://schemas.microsoft.com/office/powerpoint/2010/main" val="163836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Thank you very much for your attention. I am happy to take questions.</a:t>
            </a:r>
          </a:p>
        </p:txBody>
      </p:sp>
      <p:sp>
        <p:nvSpPr>
          <p:cNvPr id="4" name="灯片编号占位符 3"/>
          <p:cNvSpPr>
            <a:spLocks noGrp="1"/>
          </p:cNvSpPr>
          <p:nvPr>
            <p:ph type="sldNum" sz="quarter" idx="5"/>
          </p:nvPr>
        </p:nvSpPr>
        <p:spPr/>
        <p:txBody>
          <a:bodyPr/>
          <a:lstStyle/>
          <a:p>
            <a:fld id="{16438545-0422-F14B-8860-F4EBB1684D97}" type="slidenum">
              <a:rPr kumimoji="1" lang="zh-CN" altLang="en-US" smtClean="0"/>
              <a:t>20</a:t>
            </a:fld>
            <a:endParaRPr kumimoji="1" lang="zh-CN" altLang="en-US"/>
          </a:p>
        </p:txBody>
      </p:sp>
    </p:spTree>
    <p:extLst>
      <p:ext uri="{BB962C8B-B14F-4D97-AF65-F5344CB8AC3E}">
        <p14:creationId xmlns:p14="http://schemas.microsoft.com/office/powerpoint/2010/main" val="1563661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AECB10-4E3B-7101-4414-20FCDB9FC28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1582CB2A-BE9E-C264-0832-3482D67B85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D1EE8583-88AF-74F5-652A-2BBA6A11FAFF}"/>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5" name="页脚占位符 4">
            <a:extLst>
              <a:ext uri="{FF2B5EF4-FFF2-40B4-BE49-F238E27FC236}">
                <a16:creationId xmlns:a16="http://schemas.microsoft.com/office/drawing/2014/main" id="{76639784-0DEC-1BDC-9AE0-0599BED86C4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B39C71F-6A63-58E2-24D7-51F8B46961F9}"/>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2232493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45B79-E73D-EF81-2B67-CD2E3EB614F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2267199-C867-52D9-5286-0544932E4CC3}"/>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4A3269C-3695-DA64-6367-8B86C0A36BE0}"/>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5" name="页脚占位符 4">
            <a:extLst>
              <a:ext uri="{FF2B5EF4-FFF2-40B4-BE49-F238E27FC236}">
                <a16:creationId xmlns:a16="http://schemas.microsoft.com/office/drawing/2014/main" id="{0208182F-AFE4-EDE9-F19B-072CBB90ED3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76DCEF-905E-63E2-325D-4D2CA2601910}"/>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3688878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3AF52-5C94-5CF1-38AC-46856E67AAF7}"/>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43A8CB3D-A771-0DCA-4AA1-7B92B413A7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6F75417C-8892-EA71-8CBC-BA7F79EFDAEA}"/>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5" name="页脚占位符 4">
            <a:extLst>
              <a:ext uri="{FF2B5EF4-FFF2-40B4-BE49-F238E27FC236}">
                <a16:creationId xmlns:a16="http://schemas.microsoft.com/office/drawing/2014/main" id="{BF39D065-B952-0AD8-2E7C-64E7C18BCB1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2DCB711-9D34-4DBA-9893-7442C9AAD4AA}"/>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3308144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819FBF-98B2-7CE0-2995-DBBC1556794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35544CE-0EFF-F828-119D-13B34650774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2BA8668C-A92A-ADCF-0761-48AFE5BFB46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437DF1F0-373C-3000-0748-CD96ABB61179}"/>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6" name="页脚占位符 5">
            <a:extLst>
              <a:ext uri="{FF2B5EF4-FFF2-40B4-BE49-F238E27FC236}">
                <a16:creationId xmlns:a16="http://schemas.microsoft.com/office/drawing/2014/main" id="{784AE394-4CA6-C9E6-6DD9-A0B414065CE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CB35C34-7124-FCCA-C605-F1D3A44360BD}"/>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504948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AB3CD-C506-DE6D-DD95-DE12A53490D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839EA9B-0A3E-2399-11FF-E37C928FFD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E45F864-2CBB-1432-4E98-8C2302DB3271}"/>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B7F6829-7740-EFC8-A4A5-7BD0301A4A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EB0A6262-DE48-DF00-68A2-11A46A4DE7DD}"/>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2D42DFDC-CAFA-8E1D-4381-F9ABB0C1ADCB}"/>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8" name="页脚占位符 7">
            <a:extLst>
              <a:ext uri="{FF2B5EF4-FFF2-40B4-BE49-F238E27FC236}">
                <a16:creationId xmlns:a16="http://schemas.microsoft.com/office/drawing/2014/main" id="{70989ACD-129B-9741-DC12-E1D139F0D3D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59E6A57-C2E8-64F4-2BDE-613DACCF8C0F}"/>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2673113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5BECE-A2AF-0D98-E5ED-9FC2A28E69C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71F5B91B-ED26-9781-C26F-38C947845950}"/>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4" name="页脚占位符 3">
            <a:extLst>
              <a:ext uri="{FF2B5EF4-FFF2-40B4-BE49-F238E27FC236}">
                <a16:creationId xmlns:a16="http://schemas.microsoft.com/office/drawing/2014/main" id="{E7724194-9F5D-8375-530C-6EE738E3DC1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B7CA97DC-F053-537B-84A8-0C8A42D8190C}"/>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132298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893FD9F-E16B-A79A-DD22-6A3CD647870E}"/>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3" name="页脚占位符 2">
            <a:extLst>
              <a:ext uri="{FF2B5EF4-FFF2-40B4-BE49-F238E27FC236}">
                <a16:creationId xmlns:a16="http://schemas.microsoft.com/office/drawing/2014/main" id="{97E4F919-C9CE-EB6F-FFD3-464E2626E97A}"/>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6EB95EA1-4246-8FEC-E91B-E9DFECE7F01F}"/>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3598756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9C0D58-2475-8886-5890-0AFBADA5616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E1169370-2871-0578-A7FB-7CBD774AE6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C0144B5D-6E7B-FD02-FCDF-CF931A9BD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533DC8E-2FA1-0014-B059-0B0D5F2FC3E8}"/>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6" name="页脚占位符 5">
            <a:extLst>
              <a:ext uri="{FF2B5EF4-FFF2-40B4-BE49-F238E27FC236}">
                <a16:creationId xmlns:a16="http://schemas.microsoft.com/office/drawing/2014/main" id="{BFC2E5D1-AD45-1892-D5F4-691652C5E5D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FE2E08A-AF84-2E68-E4AD-639F96AA6CE6}"/>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1468618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E5363B-A70C-1B58-E559-918057E5B44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0452DBB-3871-B662-92B4-288521C731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F106E2A-B62C-2525-DA61-AFE1E567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B2BFA2C-A39D-D89B-C2D1-897F2F321101}"/>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6" name="页脚占位符 5">
            <a:extLst>
              <a:ext uri="{FF2B5EF4-FFF2-40B4-BE49-F238E27FC236}">
                <a16:creationId xmlns:a16="http://schemas.microsoft.com/office/drawing/2014/main" id="{1EB47B19-0A77-2E15-483D-CF5B00CC07C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C8BF2D1-654B-B45B-E343-2984C8CB2CBD}"/>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2224049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B726A9-828E-99DD-2EFD-E420B9AD24CD}"/>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0B6AE50-DE62-7B1C-B126-97E850E3B06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060D459-6E1C-D79D-C976-D7F7DDEC930D}"/>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5" name="页脚占位符 4">
            <a:extLst>
              <a:ext uri="{FF2B5EF4-FFF2-40B4-BE49-F238E27FC236}">
                <a16:creationId xmlns:a16="http://schemas.microsoft.com/office/drawing/2014/main" id="{49A648BA-B245-9787-E2E7-AF2B698A2F7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20E6A5F-96B0-D0D0-3478-5C7E2876BE7D}"/>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1532893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41E0C7-2C2A-4190-61BD-40D0C825BFD5}"/>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F80B3FC-1055-151A-C4F7-E506D8E095D2}"/>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E110381-F857-44E0-A400-84AD1FDF0B18}"/>
              </a:ext>
            </a:extLst>
          </p:cNvPr>
          <p:cNvSpPr>
            <a:spLocks noGrp="1"/>
          </p:cNvSpPr>
          <p:nvPr>
            <p:ph type="dt" sz="half" idx="10"/>
          </p:nvPr>
        </p:nvSpPr>
        <p:spPr/>
        <p:txBody>
          <a:bodyPr/>
          <a:lstStyle/>
          <a:p>
            <a:fld id="{5F7B927D-6D99-2A4C-ABC6-CF16D2DFA886}" type="datetimeFigureOut">
              <a:rPr kumimoji="1" lang="zh-CN" altLang="en-US" smtClean="0"/>
              <a:t>2026/7/21</a:t>
            </a:fld>
            <a:endParaRPr kumimoji="1" lang="zh-CN" altLang="en-US"/>
          </a:p>
        </p:txBody>
      </p:sp>
      <p:sp>
        <p:nvSpPr>
          <p:cNvPr id="5" name="页脚占位符 4">
            <a:extLst>
              <a:ext uri="{FF2B5EF4-FFF2-40B4-BE49-F238E27FC236}">
                <a16:creationId xmlns:a16="http://schemas.microsoft.com/office/drawing/2014/main" id="{CBE77C36-B53F-02A2-2E77-A9F7903615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094624B-3C61-8339-672B-A0CCC6A52EEB}"/>
              </a:ext>
            </a:extLst>
          </p:cNvPr>
          <p:cNvSpPr>
            <a:spLocks noGrp="1"/>
          </p:cNvSpPr>
          <p:nvPr>
            <p:ph type="sldNum" sz="quarter" idx="12"/>
          </p:nvPr>
        </p:nvSpPr>
        <p:spPr/>
        <p:txBody>
          <a:body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128218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BE50AC2-1B79-509C-6930-E2F2B604C5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F3EEEBE-1CFD-A1BF-6C5F-F7C85340CA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6CDA80-CD4B-42D9-4DB6-1B11553AE0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7B927D-6D99-2A4C-ABC6-CF16D2DFA886}" type="datetimeFigureOut">
              <a:rPr kumimoji="1" lang="zh-CN" altLang="en-US" smtClean="0"/>
              <a:t>2026/7/21</a:t>
            </a:fld>
            <a:endParaRPr kumimoji="1" lang="zh-CN" altLang="en-US"/>
          </a:p>
        </p:txBody>
      </p:sp>
      <p:sp>
        <p:nvSpPr>
          <p:cNvPr id="5" name="页脚占位符 4">
            <a:extLst>
              <a:ext uri="{FF2B5EF4-FFF2-40B4-BE49-F238E27FC236}">
                <a16:creationId xmlns:a16="http://schemas.microsoft.com/office/drawing/2014/main" id="{6E34C8DE-8F20-2225-1108-A987D51C4C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44A5C2E0-7D64-D196-3DF9-C912795CED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E25B71-EB08-AF48-B347-E566CCB57908}" type="slidenum">
              <a:rPr kumimoji="1" lang="zh-CN" altLang="en-US" smtClean="0"/>
              <a:t>‹#›</a:t>
            </a:fld>
            <a:endParaRPr kumimoji="1" lang="zh-CN" altLang="en-US"/>
          </a:p>
        </p:txBody>
      </p:sp>
    </p:spTree>
    <p:extLst>
      <p:ext uri="{BB962C8B-B14F-4D97-AF65-F5344CB8AC3E}">
        <p14:creationId xmlns:p14="http://schemas.microsoft.com/office/powerpoint/2010/main" val="1933288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amp;ehk=JplscHgu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608C442-5B9A-E3B0-4EED-AA357B2D7842}"/>
              </a:ext>
            </a:extLst>
          </p:cNvPr>
          <p:cNvSpPr txBox="1"/>
          <p:nvPr/>
        </p:nvSpPr>
        <p:spPr>
          <a:xfrm>
            <a:off x="1090458" y="2307292"/>
            <a:ext cx="10011067" cy="2616101"/>
          </a:xfrm>
          <a:prstGeom prst="rect">
            <a:avLst/>
          </a:prstGeom>
          <a:noFill/>
        </p:spPr>
        <p:txBody>
          <a:bodyPr wrap="square" rtlCol="0">
            <a:spAutoFit/>
          </a:bodyPr>
          <a:lstStyle/>
          <a:p>
            <a:pPr algn="ctr"/>
            <a:r>
              <a:rPr lang="en-US" altLang="zh-CN" sz="4400" b="1" i="0" u="none" strike="noStrike" dirty="0">
                <a:effectLst/>
                <a:latin typeface="Helvetica" pitchFamily="2" charset="0"/>
              </a:rPr>
              <a:t>BLOGER: Bi-Level Optimization for Generative Recommendation</a:t>
            </a:r>
          </a:p>
          <a:p>
            <a:pPr algn="ctr"/>
            <a:r>
              <a:rPr lang="en-US" altLang="zh-CN" sz="2800" i="1" u="none" strike="noStrike" dirty="0">
                <a:effectLst/>
                <a:latin typeface="Helvetica" pitchFamily="2" charset="0"/>
              </a:rPr>
              <a:t>Bridging Tokenization and Generation</a:t>
            </a:r>
          </a:p>
          <a:p>
            <a:pPr algn="ctr"/>
            <a:endParaRPr lang="en-US" altLang="zh-CN" sz="4400" b="1" i="0" u="none" strike="noStrike" dirty="0">
              <a:effectLst/>
              <a:latin typeface="Helvetica" pitchFamily="2" charset="0"/>
            </a:endParaRPr>
          </a:p>
        </p:txBody>
      </p:sp>
      <p:sp>
        <p:nvSpPr>
          <p:cNvPr id="8" name="文本框 7">
            <a:extLst>
              <a:ext uri="{FF2B5EF4-FFF2-40B4-BE49-F238E27FC236}">
                <a16:creationId xmlns:a16="http://schemas.microsoft.com/office/drawing/2014/main" id="{FE89B715-62D1-0851-1735-176A13045F48}"/>
              </a:ext>
            </a:extLst>
          </p:cNvPr>
          <p:cNvSpPr txBox="1"/>
          <p:nvPr/>
        </p:nvSpPr>
        <p:spPr>
          <a:xfrm>
            <a:off x="761592" y="4507894"/>
            <a:ext cx="10668797" cy="830997"/>
          </a:xfrm>
          <a:prstGeom prst="rect">
            <a:avLst/>
          </a:prstGeom>
          <a:noFill/>
        </p:spPr>
        <p:txBody>
          <a:bodyPr wrap="square" rtlCol="0">
            <a:spAutoFit/>
          </a:bodyPr>
          <a:lstStyle/>
          <a:p>
            <a:pPr algn="ctr"/>
            <a:r>
              <a:rPr lang="zh-CN" altLang="zh-CN" sz="2400" dirty="0">
                <a:latin typeface="Helvetica" pitchFamily="2" charset="0"/>
              </a:rPr>
              <a:t>Yimeng Bai, Chang Liu, Yang Zhang, Dingxian Wang, Frank Yang, </a:t>
            </a:r>
            <a:br>
              <a:rPr lang="en-US" altLang="zh-CN" sz="2400" dirty="0">
                <a:latin typeface="Helvetica" pitchFamily="2" charset="0"/>
              </a:rPr>
            </a:br>
            <a:r>
              <a:rPr lang="zh-CN" altLang="zh-CN" sz="2400" dirty="0">
                <a:latin typeface="Helvetica" pitchFamily="2" charset="0"/>
              </a:rPr>
              <a:t>Andrew Rabinovich, Wenge Rong, Fuli Feng</a:t>
            </a:r>
            <a:endParaRPr lang="en-US" altLang="zh-CN" sz="2400" dirty="0">
              <a:latin typeface="Helvetica" pitchFamily="2" charset="0"/>
            </a:endParaRPr>
          </a:p>
        </p:txBody>
      </p:sp>
      <p:sp>
        <p:nvSpPr>
          <p:cNvPr id="14" name="文本框 13">
            <a:extLst>
              <a:ext uri="{FF2B5EF4-FFF2-40B4-BE49-F238E27FC236}">
                <a16:creationId xmlns:a16="http://schemas.microsoft.com/office/drawing/2014/main" id="{37D913F9-A51A-D450-1AB5-23A37E43E4AB}"/>
              </a:ext>
            </a:extLst>
          </p:cNvPr>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01/20</a:t>
            </a:r>
            <a:endParaRPr kumimoji="1" lang="zh-CN" altLang="en-US" dirty="0">
              <a:latin typeface="Helvetica" pitchFamily="2" charset="0"/>
            </a:endParaRPr>
          </a:p>
        </p:txBody>
      </p:sp>
      <p:pic>
        <p:nvPicPr>
          <p:cNvPr id="9" name="Picture 4" descr="USTC学习资料">
            <a:extLst>
              <a:ext uri="{FF2B5EF4-FFF2-40B4-BE49-F238E27FC236}">
                <a16:creationId xmlns:a16="http://schemas.microsoft.com/office/drawing/2014/main" id="{FFDDAA5D-C1A0-DD4B-4061-788A9F8248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1546" y="200211"/>
            <a:ext cx="973124" cy="971550"/>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13F39F67-04E3-421A-86EE-937A395C3CDC}"/>
              </a:ext>
            </a:extLst>
          </p:cNvPr>
          <p:cNvPicPr>
            <a:picLocks noChangeAspect="1"/>
          </p:cNvPicPr>
          <p:nvPr/>
        </p:nvPicPr>
        <p:blipFill>
          <a:blip r:embed="rId4"/>
          <a:stretch>
            <a:fillRect/>
          </a:stretch>
        </p:blipFill>
        <p:spPr>
          <a:xfrm>
            <a:off x="0" y="0"/>
            <a:ext cx="3486856" cy="1689100"/>
          </a:xfrm>
          <a:prstGeom prst="rect">
            <a:avLst/>
          </a:prstGeom>
        </p:spPr>
      </p:pic>
      <p:pic>
        <p:nvPicPr>
          <p:cNvPr id="15" name="图片 14" descr="新加坡国立大学校徽 – 思斐迩3D科学模型素材库">
            <a:extLst>
              <a:ext uri="{FF2B5EF4-FFF2-40B4-BE49-F238E27FC236}">
                <a16:creationId xmlns:a16="http://schemas.microsoft.com/office/drawing/2014/main" id="{8E7AA2C8-10E5-E5D9-E008-110791CFAFFB}"/>
              </a:ext>
            </a:extLst>
          </p:cNvPr>
          <p:cNvPicPr>
            <a:picLocks noChangeAspect="1"/>
          </p:cNvPicPr>
          <p:nvPr/>
        </p:nvPicPr>
        <p:blipFill>
          <a:blip r:embed="rId5"/>
          <a:stretch>
            <a:fillRect/>
          </a:stretch>
        </p:blipFill>
        <p:spPr>
          <a:xfrm>
            <a:off x="9401400" y="200209"/>
            <a:ext cx="971550" cy="971550"/>
          </a:xfrm>
          <a:prstGeom prst="rect">
            <a:avLst/>
          </a:prstGeom>
        </p:spPr>
      </p:pic>
      <p:pic>
        <p:nvPicPr>
          <p:cNvPr id="16" name="图片 15" descr="北京航空航天大学校徽Logo PNG SVG AI矢量图下载_免费高清资源">
            <a:extLst>
              <a:ext uri="{FF2B5EF4-FFF2-40B4-BE49-F238E27FC236}">
                <a16:creationId xmlns:a16="http://schemas.microsoft.com/office/drawing/2014/main" id="{C2B280FC-CA23-FD5D-2441-2B259CDDA9FC}"/>
              </a:ext>
            </a:extLst>
          </p:cNvPr>
          <p:cNvPicPr>
            <a:picLocks noChangeAspect="1"/>
          </p:cNvPicPr>
          <p:nvPr/>
        </p:nvPicPr>
        <p:blipFill>
          <a:blip r:embed="rId6"/>
          <a:stretch>
            <a:fillRect/>
          </a:stretch>
        </p:blipFill>
        <p:spPr>
          <a:xfrm>
            <a:off x="8327260" y="200209"/>
            <a:ext cx="971550" cy="971550"/>
          </a:xfrm>
          <a:prstGeom prst="rect">
            <a:avLst/>
          </a:prstGeom>
        </p:spPr>
      </p:pic>
      <p:pic>
        <p:nvPicPr>
          <p:cNvPr id="17" name="图片 16" descr="Upwork (upwork.com) – Logos Download">
            <a:extLst>
              <a:ext uri="{FF2B5EF4-FFF2-40B4-BE49-F238E27FC236}">
                <a16:creationId xmlns:a16="http://schemas.microsoft.com/office/drawing/2014/main" id="{D2D65BEC-E8BE-DF4A-CB6D-801536DC9ED5}"/>
              </a:ext>
            </a:extLst>
          </p:cNvPr>
          <p:cNvPicPr>
            <a:picLocks noChangeAspect="1"/>
          </p:cNvPicPr>
          <p:nvPr/>
        </p:nvPicPr>
        <p:blipFill>
          <a:blip r:embed="rId7"/>
          <a:stretch>
            <a:fillRect/>
          </a:stretch>
        </p:blipFill>
        <p:spPr>
          <a:xfrm>
            <a:off x="10372950" y="463063"/>
            <a:ext cx="1397765" cy="445842"/>
          </a:xfrm>
          <a:prstGeom prst="rect">
            <a:avLst/>
          </a:prstGeom>
        </p:spPr>
      </p:pic>
    </p:spTree>
    <p:extLst>
      <p:ext uri="{BB962C8B-B14F-4D97-AF65-F5344CB8AC3E}">
        <p14:creationId xmlns:p14="http://schemas.microsoft.com/office/powerpoint/2010/main" val="1537900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23700DF-3D99-5BFF-AD64-B750015E593B}"/>
              </a:ext>
            </a:extLst>
          </p:cNvPr>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Outline</a:t>
            </a:r>
            <a:endParaRPr kumimoji="1" lang="zh-CN" altLang="en-US" sz="4000" b="1" dirty="0">
              <a:latin typeface="Helvetica" pitchFamily="2" charset="0"/>
            </a:endParaRPr>
          </a:p>
        </p:txBody>
      </p:sp>
      <p:sp>
        <p:nvSpPr>
          <p:cNvPr id="3" name="文本框 2">
            <a:extLst>
              <a:ext uri="{FF2B5EF4-FFF2-40B4-BE49-F238E27FC236}">
                <a16:creationId xmlns:a16="http://schemas.microsoft.com/office/drawing/2014/main" id="{5897C782-EA2A-FAE2-158C-4F800AB968E2}"/>
              </a:ext>
            </a:extLst>
          </p:cNvPr>
          <p:cNvSpPr txBox="1"/>
          <p:nvPr/>
        </p:nvSpPr>
        <p:spPr>
          <a:xfrm>
            <a:off x="1288025" y="1758007"/>
            <a:ext cx="9615949" cy="2975495"/>
          </a:xfrm>
          <a:prstGeom prst="rect">
            <a:avLst/>
          </a:prstGeom>
          <a:noFill/>
        </p:spPr>
        <p:txBody>
          <a:bodyPr wrap="square" rtlCol="0">
            <a:spAutoFit/>
          </a:bodyPr>
          <a:lstStyle/>
          <a:p>
            <a:pPr marL="457200" indent="-457200">
              <a:lnSpc>
                <a:spcPct val="150000"/>
              </a:lnSpc>
              <a:buFont typeface="Wingdings" pitchFamily="2" charset="2"/>
              <a:buChar char="l"/>
            </a:pPr>
            <a:r>
              <a:rPr kumimoji="1" lang="zh-CN" altLang="en-US" sz="3200" dirty="0">
                <a:latin typeface="Helvetica" pitchFamily="2" charset="0"/>
              </a:rPr>
              <a:t> </a:t>
            </a:r>
            <a:r>
              <a:rPr kumimoji="1" lang="en-US" altLang="zh-CN" sz="3200" dirty="0">
                <a:latin typeface="Helvetica" pitchFamily="2" charset="0"/>
              </a:rPr>
              <a:t>Background</a:t>
            </a:r>
          </a:p>
          <a:p>
            <a:pPr marL="457200" indent="-457200">
              <a:lnSpc>
                <a:spcPct val="150000"/>
              </a:lnSpc>
              <a:buFont typeface="Wingdings" pitchFamily="2" charset="2"/>
              <a:buChar char="l"/>
            </a:pPr>
            <a:r>
              <a:rPr kumimoji="1" lang="zh-CN" altLang="en-US" sz="3200" dirty="0">
                <a:latin typeface="Helvetica" pitchFamily="2" charset="0"/>
              </a:rPr>
              <a:t> </a:t>
            </a:r>
            <a:r>
              <a:rPr kumimoji="1" lang="en-US" altLang="zh-CN" sz="3200" dirty="0">
                <a:latin typeface="Helvetica" pitchFamily="2" charset="0"/>
              </a:rPr>
              <a:t>Methodology</a:t>
            </a:r>
          </a:p>
          <a:p>
            <a:pPr marL="457200" indent="-457200">
              <a:lnSpc>
                <a:spcPct val="150000"/>
              </a:lnSpc>
              <a:buFont typeface="Wingdings" pitchFamily="2" charset="2"/>
              <a:buChar char="l"/>
            </a:pPr>
            <a:r>
              <a:rPr kumimoji="1" lang="en-US" altLang="zh-CN" sz="3200" dirty="0">
                <a:latin typeface="Helvetica" pitchFamily="2" charset="0"/>
              </a:rPr>
              <a:t> Experiment</a:t>
            </a:r>
          </a:p>
          <a:p>
            <a:pPr marL="457200" indent="-457200">
              <a:lnSpc>
                <a:spcPct val="150000"/>
              </a:lnSpc>
              <a:buFont typeface="Wingdings" pitchFamily="2" charset="2"/>
              <a:buChar char="l"/>
            </a:pPr>
            <a:r>
              <a:rPr kumimoji="1" lang="en-US" altLang="zh-CN" sz="3200" dirty="0">
                <a:latin typeface="Helvetica" pitchFamily="2" charset="0"/>
              </a:rPr>
              <a:t> Conclusion</a:t>
            </a:r>
            <a:endParaRPr kumimoji="1" lang="zh-CN" altLang="en-US" sz="3200" dirty="0">
              <a:latin typeface="Helvetica" pitchFamily="2" charset="0"/>
            </a:endParaRPr>
          </a:p>
        </p:txBody>
      </p:sp>
      <p:sp>
        <p:nvSpPr>
          <p:cNvPr id="7" name="文本框 6">
            <a:extLst>
              <a:ext uri="{FF2B5EF4-FFF2-40B4-BE49-F238E27FC236}">
                <a16:creationId xmlns:a16="http://schemas.microsoft.com/office/drawing/2014/main" id="{D40F5D84-CDC9-C1F1-110C-0229588666E9}"/>
              </a:ext>
            </a:extLst>
          </p:cNvPr>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02/20</a:t>
            </a:r>
            <a:endParaRPr kumimoji="1" lang="zh-CN" altLang="en-US" dirty="0">
              <a:latin typeface="Helvetica" pitchFamily="2" charset="0"/>
            </a:endParaRPr>
          </a:p>
        </p:txBody>
      </p:sp>
    </p:spTree>
    <p:extLst>
      <p:ext uri="{BB962C8B-B14F-4D97-AF65-F5344CB8AC3E}">
        <p14:creationId xmlns:p14="http://schemas.microsoft.com/office/powerpoint/2010/main" val="4204256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23700DF-3D99-5BFF-AD64-B750015E593B}"/>
              </a:ext>
            </a:extLst>
          </p:cNvPr>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Background</a:t>
            </a:r>
            <a:endParaRPr kumimoji="1" lang="zh-CN" altLang="en-US" sz="4000" b="1" dirty="0">
              <a:latin typeface="Helvetica" pitchFamily="2" charset="0"/>
            </a:endParaRPr>
          </a:p>
        </p:txBody>
      </p:sp>
      <p:sp>
        <p:nvSpPr>
          <p:cNvPr id="3" name="文本框 2">
            <a:extLst>
              <a:ext uri="{FF2B5EF4-FFF2-40B4-BE49-F238E27FC236}">
                <a16:creationId xmlns:a16="http://schemas.microsoft.com/office/drawing/2014/main" id="{88458080-F8AF-0B17-A606-24563F28F565}"/>
              </a:ext>
            </a:extLst>
          </p:cNvPr>
          <p:cNvSpPr txBox="1"/>
          <p:nvPr/>
        </p:nvSpPr>
        <p:spPr>
          <a:xfrm>
            <a:off x="285135" y="890767"/>
            <a:ext cx="9615949"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zh-CN" altLang="en-US" sz="3200" b="1" dirty="0">
                <a:latin typeface="Helvetica" pitchFamily="2" charset="0"/>
              </a:rPr>
              <a:t> </a:t>
            </a:r>
            <a:r>
              <a:rPr kumimoji="1" lang="en-US" altLang="zh-CN" sz="3200" b="1" dirty="0">
                <a:latin typeface="Helvetica" pitchFamily="2" charset="0"/>
              </a:rPr>
              <a:t>Generative Recommendation</a:t>
            </a:r>
            <a:r>
              <a:rPr kumimoji="1" lang="zh-CN" altLang="en-US" sz="3200" b="1" dirty="0">
                <a:latin typeface="Helvetica" pitchFamily="2" charset="0"/>
              </a:rPr>
              <a:t> </a:t>
            </a:r>
            <a:r>
              <a:rPr kumimoji="1" lang="en-US" altLang="zh-CN" sz="3200" b="1" dirty="0">
                <a:latin typeface="Helvetica" pitchFamily="2" charset="0"/>
              </a:rPr>
              <a:t>(SID-based)</a:t>
            </a:r>
          </a:p>
        </p:txBody>
      </p:sp>
      <p:sp>
        <p:nvSpPr>
          <p:cNvPr id="68" name="文本框 67">
            <a:extLst>
              <a:ext uri="{FF2B5EF4-FFF2-40B4-BE49-F238E27FC236}">
                <a16:creationId xmlns:a16="http://schemas.microsoft.com/office/drawing/2014/main" id="{385B667A-6E6E-8329-3FA6-0E29A9BD01E4}"/>
              </a:ext>
            </a:extLst>
          </p:cNvPr>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03/20</a:t>
            </a:r>
            <a:endParaRPr kumimoji="1" lang="zh-CN" altLang="en-US" dirty="0">
              <a:latin typeface="Helvetica" pitchFamily="2" charset="0"/>
            </a:endParaRPr>
          </a:p>
        </p:txBody>
      </p:sp>
      <p:sp>
        <p:nvSpPr>
          <p:cNvPr id="4" name="文本框 3">
            <a:extLst>
              <a:ext uri="{FF2B5EF4-FFF2-40B4-BE49-F238E27FC236}">
                <a16:creationId xmlns:a16="http://schemas.microsoft.com/office/drawing/2014/main" id="{C79FDC7D-46C0-4334-7A66-855DAA0758AF}"/>
              </a:ext>
            </a:extLst>
          </p:cNvPr>
          <p:cNvSpPr txBox="1"/>
          <p:nvPr/>
        </p:nvSpPr>
        <p:spPr>
          <a:xfrm>
            <a:off x="724655" y="1765430"/>
            <a:ext cx="11150821" cy="4341125"/>
          </a:xfrm>
          <a:prstGeom prst="rect">
            <a:avLst/>
          </a:prstGeom>
          <a:noFill/>
        </p:spPr>
        <p:txBody>
          <a:bodyPr wrap="square" rtlCol="0">
            <a:spAutoFit/>
          </a:bodyPr>
          <a:lstStyle/>
          <a:p>
            <a:pPr marL="457200" indent="-457200">
              <a:lnSpc>
                <a:spcPct val="150000"/>
              </a:lnSpc>
              <a:buFont typeface="Wingdings" pitchFamily="2" charset="2"/>
              <a:buChar char="p"/>
            </a:pPr>
            <a:r>
              <a:rPr lang="en-US" altLang="zh-CN" sz="2400" dirty="0">
                <a:solidFill>
                  <a:srgbClr val="000000"/>
                </a:solidFill>
                <a:latin typeface="Helvetica" pitchFamily="2" charset="0"/>
                <a:ea typeface="Calibri" pitchFamily="34" charset="-122"/>
                <a:cs typeface="Calibri" pitchFamily="34" charset="-120"/>
              </a:rPr>
              <a:t>Two coupled stages in GR</a:t>
            </a:r>
          </a:p>
          <a:p>
            <a:pPr marL="914400" lvl="1" indent="-457200">
              <a:lnSpc>
                <a:spcPct val="150000"/>
              </a:lnSpc>
              <a:buFont typeface="Wingdings" pitchFamily="2" charset="2"/>
              <a:buChar char="p"/>
            </a:pPr>
            <a:r>
              <a:rPr lang="en-US" altLang="zh-CN" sz="2000" b="1" dirty="0">
                <a:solidFill>
                  <a:srgbClr val="002060"/>
                </a:solidFill>
                <a:latin typeface="Helvetica" pitchFamily="2" charset="0"/>
                <a:ea typeface="Calibri" pitchFamily="34" charset="-122"/>
                <a:cs typeface="Calibri" pitchFamily="34" charset="-120"/>
              </a:rPr>
              <a:t>Autoregressive generation</a:t>
            </a:r>
            <a:r>
              <a:rPr lang="en-US" altLang="zh-CN" sz="2000" dirty="0">
                <a:solidFill>
                  <a:srgbClr val="000000"/>
                </a:solidFill>
                <a:latin typeface="Helvetica" pitchFamily="2" charset="0"/>
                <a:ea typeface="Calibri" pitchFamily="34" charset="-122"/>
                <a:cs typeface="Calibri" pitchFamily="34" charset="-120"/>
              </a:rPr>
              <a:t>: instead of matching each candidate item, the model autoregressively generates the next item's identifier</a:t>
            </a:r>
            <a:endParaRPr kumimoji="1" lang="en-US" altLang="zh-CN" sz="2000" b="1" dirty="0">
              <a:solidFill>
                <a:srgbClr val="002060"/>
              </a:solidFill>
              <a:latin typeface="Helvetica" pitchFamily="2" charset="0"/>
              <a:cs typeface="Arial" panose="020B0604020202020204" pitchFamily="34" charset="0"/>
            </a:endParaRPr>
          </a:p>
          <a:p>
            <a:pPr marL="914400" lvl="1" indent="-457200">
              <a:lnSpc>
                <a:spcPct val="150000"/>
              </a:lnSpc>
              <a:buFont typeface="Wingdings" pitchFamily="2" charset="2"/>
              <a:buChar char="p"/>
            </a:pPr>
            <a:r>
              <a:rPr kumimoji="1" lang="en-US" altLang="zh-CN" sz="2000" b="1" dirty="0">
                <a:solidFill>
                  <a:srgbClr val="002060"/>
                </a:solidFill>
                <a:latin typeface="Helvetica" pitchFamily="2" charset="0"/>
                <a:cs typeface="Arial" panose="020B0604020202020204" pitchFamily="34" charset="0"/>
              </a:rPr>
              <a:t>Item tokenization</a:t>
            </a:r>
            <a:r>
              <a:rPr kumimoji="1" lang="en-US" altLang="zh-CN" sz="2000" dirty="0">
                <a:latin typeface="Helvetica" pitchFamily="2" charset="0"/>
                <a:cs typeface="Arial" panose="020B0604020202020204" pitchFamily="34" charset="0"/>
              </a:rPr>
              <a:t>: </a:t>
            </a:r>
            <a:r>
              <a:rPr lang="en" altLang="zh-CN" sz="2000" dirty="0">
                <a:latin typeface="Helvetica" pitchFamily="2" charset="0"/>
              </a:rPr>
              <a:t>map items into </a:t>
            </a:r>
            <a:r>
              <a:rPr lang="en" altLang="zh-CN" sz="2000" b="1" dirty="0">
                <a:latin typeface="Helvetica" pitchFamily="2" charset="0"/>
              </a:rPr>
              <a:t>compact discrete representations</a:t>
            </a:r>
          </a:p>
          <a:p>
            <a:pPr marL="1371600" lvl="2" indent="-457200">
              <a:lnSpc>
                <a:spcPct val="150000"/>
              </a:lnSpc>
              <a:buFont typeface="Wingdings" pitchFamily="2" charset="2"/>
              <a:buChar char="p"/>
            </a:pPr>
            <a:r>
              <a:rPr lang="en" altLang="zh-CN" dirty="0">
                <a:latin typeface="Helvetica" pitchFamily="2" charset="0"/>
              </a:rPr>
              <a:t>Example: RQ-VAE / RQ-</a:t>
            </a:r>
            <a:r>
              <a:rPr lang="en" altLang="zh-CN" dirty="0" err="1">
                <a:latin typeface="Helvetica" pitchFamily="2" charset="0"/>
              </a:rPr>
              <a:t>Kmeans</a:t>
            </a:r>
            <a:r>
              <a:rPr lang="en" altLang="zh-CN" dirty="0">
                <a:latin typeface="Helvetica" pitchFamily="2" charset="0"/>
              </a:rPr>
              <a:t> for generative recommendation</a:t>
            </a:r>
          </a:p>
          <a:p>
            <a:pPr marL="457200" indent="-457200">
              <a:lnSpc>
                <a:spcPct val="150000"/>
              </a:lnSpc>
              <a:buFont typeface="Wingdings" pitchFamily="2" charset="2"/>
              <a:buChar char="p"/>
            </a:pPr>
            <a:r>
              <a:rPr kumimoji="1" lang="en-US" altLang="zh-CN" sz="2400" dirty="0">
                <a:latin typeface="Helvetica" pitchFamily="2" charset="0"/>
                <a:cs typeface="Arial" panose="020B0604020202020204" pitchFamily="34" charset="0"/>
              </a:rPr>
              <a:t>Critical role of item tokenization</a:t>
            </a:r>
            <a:endParaRPr kumimoji="1" lang="en-US" altLang="zh-CN" sz="2000" dirty="0">
              <a:latin typeface="Helvetica" pitchFamily="2" charset="0"/>
              <a:cs typeface="Arial" panose="020B0604020202020204" pitchFamily="34" charset="0"/>
            </a:endParaRPr>
          </a:p>
          <a:p>
            <a:pPr marL="914400" lvl="1" indent="-457200">
              <a:lnSpc>
                <a:spcPct val="150000"/>
              </a:lnSpc>
              <a:buFont typeface="Wingdings" pitchFamily="2" charset="2"/>
              <a:buChar char="p"/>
            </a:pPr>
            <a:r>
              <a:rPr kumimoji="1" lang="en-US" altLang="zh-CN" sz="2000" dirty="0">
                <a:latin typeface="Helvetica" pitchFamily="2" charset="0"/>
                <a:cs typeface="Arial" panose="020B0604020202020204" pitchFamily="34" charset="0"/>
              </a:rPr>
              <a:t>Support the </a:t>
            </a:r>
            <a:r>
              <a:rPr kumimoji="1" lang="en-US" altLang="zh-CN" sz="2000" b="1" dirty="0">
                <a:latin typeface="Helvetica" pitchFamily="2" charset="0"/>
                <a:cs typeface="Arial" panose="020B0604020202020204" pitchFamily="34" charset="0"/>
              </a:rPr>
              <a:t>direct generation</a:t>
            </a:r>
            <a:r>
              <a:rPr kumimoji="1" lang="en-US" altLang="zh-CN" sz="2000" dirty="0">
                <a:latin typeface="Helvetica" pitchFamily="2" charset="0"/>
                <a:cs typeface="Arial" panose="020B0604020202020204" pitchFamily="34" charset="0"/>
              </a:rPr>
              <a:t> of items within the</a:t>
            </a:r>
            <a:r>
              <a:rPr kumimoji="1" lang="zh-CN" altLang="en-US" sz="2000" dirty="0">
                <a:latin typeface="Helvetica" pitchFamily="2" charset="0"/>
                <a:cs typeface="Arial" panose="020B0604020202020204" pitchFamily="34" charset="0"/>
              </a:rPr>
              <a:t> </a:t>
            </a:r>
            <a:r>
              <a:rPr kumimoji="1" lang="en-US" altLang="zh-CN" sz="2000" dirty="0">
                <a:latin typeface="Helvetica" pitchFamily="2" charset="0"/>
                <a:cs typeface="Arial" panose="020B0604020202020204" pitchFamily="34" charset="0"/>
              </a:rPr>
              <a:t>pre-defined</a:t>
            </a:r>
            <a:r>
              <a:rPr kumimoji="1" lang="zh-CN" altLang="en-US" sz="2000" dirty="0">
                <a:latin typeface="Helvetica" pitchFamily="2" charset="0"/>
                <a:cs typeface="Arial" panose="020B0604020202020204" pitchFamily="34" charset="0"/>
              </a:rPr>
              <a:t> </a:t>
            </a:r>
            <a:r>
              <a:rPr kumimoji="1" lang="en-US" altLang="zh-CN" sz="2000" dirty="0">
                <a:latin typeface="Helvetica" pitchFamily="2" charset="0"/>
                <a:cs typeface="Arial" panose="020B0604020202020204" pitchFamily="34" charset="0"/>
              </a:rPr>
              <a:t>token space</a:t>
            </a:r>
          </a:p>
          <a:p>
            <a:pPr marL="914400" lvl="1" indent="-457200">
              <a:lnSpc>
                <a:spcPct val="150000"/>
              </a:lnSpc>
              <a:buFont typeface="Wingdings" pitchFamily="2" charset="2"/>
              <a:buChar char="p"/>
            </a:pPr>
            <a:r>
              <a:rPr kumimoji="1" lang="en-US" altLang="zh-CN" sz="2000" dirty="0">
                <a:latin typeface="Helvetica" pitchFamily="2" charset="0"/>
                <a:cs typeface="Arial" panose="020B0604020202020204" pitchFamily="34" charset="0"/>
              </a:rPr>
              <a:t>Improve </a:t>
            </a:r>
            <a:r>
              <a:rPr kumimoji="1" lang="en-US" altLang="zh-CN" sz="2000" b="1" dirty="0">
                <a:latin typeface="Helvetica" pitchFamily="2" charset="0"/>
                <a:cs typeface="Arial" panose="020B0604020202020204" pitchFamily="34" charset="0"/>
              </a:rPr>
              <a:t>scalability</a:t>
            </a:r>
            <a:r>
              <a:rPr kumimoji="1" lang="en-US" altLang="zh-CN" sz="2000" dirty="0">
                <a:latin typeface="Helvetica" pitchFamily="2" charset="0"/>
                <a:cs typeface="Arial" panose="020B0604020202020204" pitchFamily="34" charset="0"/>
              </a:rPr>
              <a:t> by replacing a large item vocabulary with small shared codebooks</a:t>
            </a:r>
          </a:p>
          <a:p>
            <a:pPr marL="914400" lvl="1" indent="-457200">
              <a:lnSpc>
                <a:spcPct val="150000"/>
              </a:lnSpc>
              <a:buFont typeface="Wingdings" pitchFamily="2" charset="2"/>
              <a:buChar char="p"/>
            </a:pPr>
            <a:r>
              <a:rPr kumimoji="1" lang="en-US" altLang="zh-CN" sz="2000" dirty="0">
                <a:latin typeface="Helvetica" pitchFamily="2" charset="0"/>
                <a:cs typeface="Arial" panose="020B0604020202020204" pitchFamily="34" charset="0"/>
              </a:rPr>
              <a:t>Support generalization to </a:t>
            </a:r>
            <a:r>
              <a:rPr kumimoji="1" lang="en-US" altLang="zh-CN" sz="2000" b="1" dirty="0">
                <a:latin typeface="Helvetica" pitchFamily="2" charset="0"/>
                <a:cs typeface="Arial" panose="020B0604020202020204" pitchFamily="34" charset="0"/>
              </a:rPr>
              <a:t>new / long-tail </a:t>
            </a:r>
            <a:r>
              <a:rPr kumimoji="1" lang="en-US" altLang="zh-CN" sz="2000" dirty="0">
                <a:latin typeface="Helvetica" pitchFamily="2" charset="0"/>
                <a:cs typeface="Arial" panose="020B0604020202020204" pitchFamily="34" charset="0"/>
              </a:rPr>
              <a:t>items through content-derived identifiers</a:t>
            </a:r>
          </a:p>
        </p:txBody>
      </p:sp>
    </p:spTree>
    <p:extLst>
      <p:ext uri="{BB962C8B-B14F-4D97-AF65-F5344CB8AC3E}">
        <p14:creationId xmlns:p14="http://schemas.microsoft.com/office/powerpoint/2010/main" val="3866236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23700DF-3D99-5BFF-AD64-B750015E593B}"/>
              </a:ext>
            </a:extLst>
          </p:cNvPr>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Background</a:t>
            </a:r>
            <a:endParaRPr kumimoji="1" lang="zh-CN" altLang="en-US" sz="4000" b="1" dirty="0">
              <a:latin typeface="Helvetica" pitchFamily="2" charset="0"/>
            </a:endParaRPr>
          </a:p>
        </p:txBody>
      </p:sp>
      <p:sp>
        <p:nvSpPr>
          <p:cNvPr id="3" name="文本框 2">
            <a:extLst>
              <a:ext uri="{FF2B5EF4-FFF2-40B4-BE49-F238E27FC236}">
                <a16:creationId xmlns:a16="http://schemas.microsoft.com/office/drawing/2014/main" id="{88458080-F8AF-0B17-A606-24563F28F565}"/>
              </a:ext>
            </a:extLst>
          </p:cNvPr>
          <p:cNvSpPr txBox="1"/>
          <p:nvPr/>
        </p:nvSpPr>
        <p:spPr>
          <a:xfrm>
            <a:off x="285135" y="890767"/>
            <a:ext cx="9615949"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zh-CN" altLang="en-US" sz="3200" b="1" dirty="0">
                <a:latin typeface="Helvetica" pitchFamily="2" charset="0"/>
              </a:rPr>
              <a:t> </a:t>
            </a:r>
            <a:r>
              <a:rPr kumimoji="1" lang="en-US" altLang="zh-CN" sz="3200" b="1" dirty="0">
                <a:latin typeface="Helvetica" pitchFamily="2" charset="0"/>
              </a:rPr>
              <a:t>Separate Training Creates an Alignment Gap</a:t>
            </a:r>
          </a:p>
        </p:txBody>
      </p:sp>
      <p:sp>
        <p:nvSpPr>
          <p:cNvPr id="87" name="文本框 86">
            <a:extLst>
              <a:ext uri="{FF2B5EF4-FFF2-40B4-BE49-F238E27FC236}">
                <a16:creationId xmlns:a16="http://schemas.microsoft.com/office/drawing/2014/main" id="{2D59F38C-B285-D9B3-71EC-0E9586F162CD}"/>
              </a:ext>
            </a:extLst>
          </p:cNvPr>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04/20</a:t>
            </a:r>
            <a:endParaRPr kumimoji="1" lang="zh-CN" altLang="en-US" dirty="0">
              <a:latin typeface="Helvetica" pitchFamily="2" charset="0"/>
            </a:endParaRPr>
          </a:p>
        </p:txBody>
      </p:sp>
      <p:sp>
        <p:nvSpPr>
          <p:cNvPr id="4" name="文本框 3">
            <a:extLst>
              <a:ext uri="{FF2B5EF4-FFF2-40B4-BE49-F238E27FC236}">
                <a16:creationId xmlns:a16="http://schemas.microsoft.com/office/drawing/2014/main" id="{6995FBB3-4AD2-6361-9D36-1CB3E8355323}"/>
              </a:ext>
            </a:extLst>
          </p:cNvPr>
          <p:cNvSpPr txBox="1"/>
          <p:nvPr/>
        </p:nvSpPr>
        <p:spPr>
          <a:xfrm>
            <a:off x="631811" y="1800107"/>
            <a:ext cx="7081973" cy="5545942"/>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cs typeface="Arial" panose="020B0604020202020204" pitchFamily="34" charset="0"/>
              </a:rPr>
              <a:t>Existing works typically treat item tokenization and autoregressive generation as </a:t>
            </a:r>
            <a:r>
              <a:rPr kumimoji="1" lang="en-US" altLang="zh-CN" sz="2000" b="1" dirty="0">
                <a:latin typeface="Helvetica" pitchFamily="2" charset="0"/>
                <a:cs typeface="Arial" panose="020B0604020202020204" pitchFamily="34" charset="0"/>
              </a:rPr>
              <a:t>independent</a:t>
            </a:r>
            <a:r>
              <a:rPr kumimoji="1" lang="en-US" altLang="zh-CN" sz="2000" dirty="0">
                <a:latin typeface="Helvetica" pitchFamily="2" charset="0"/>
                <a:cs typeface="Arial" panose="020B0604020202020204" pitchFamily="34" charset="0"/>
              </a:rPr>
              <a:t> components</a:t>
            </a:r>
          </a:p>
          <a:p>
            <a:pPr marL="914400" lvl="1" indent="-457200">
              <a:lnSpc>
                <a:spcPct val="150000"/>
              </a:lnSpc>
              <a:buFont typeface="Wingdings" pitchFamily="2" charset="2"/>
              <a:buChar char="p"/>
            </a:pPr>
            <a:r>
              <a:rPr lang="en-US" altLang="zh-CN" sz="2000" b="1" dirty="0">
                <a:solidFill>
                  <a:srgbClr val="002060"/>
                </a:solidFill>
                <a:latin typeface="Helvetica" pitchFamily="2" charset="0"/>
              </a:rPr>
              <a:t>S</a:t>
            </a:r>
            <a:r>
              <a:rPr lang="zh-CN" altLang="zh-CN" sz="2000" b="1" dirty="0">
                <a:solidFill>
                  <a:srgbClr val="002060"/>
                </a:solidFill>
                <a:latin typeface="Helvetica" pitchFamily="2" charset="0"/>
              </a:rPr>
              <a:t>equential optimization</a:t>
            </a:r>
            <a:r>
              <a:rPr lang="en-US" altLang="zh-CN" sz="2000" b="1" dirty="0">
                <a:solidFill>
                  <a:srgbClr val="002060"/>
                </a:solidFill>
                <a:latin typeface="Helvetica" pitchFamily="2" charset="0"/>
              </a:rPr>
              <a:t>:</a:t>
            </a:r>
            <a:r>
              <a:rPr lang="zh-CN" altLang="zh-CN" sz="2000" dirty="0">
                <a:latin typeface="Helvetica" pitchFamily="2" charset="0"/>
              </a:rPr>
              <a:t> </a:t>
            </a:r>
            <a:r>
              <a:rPr lang="en" altLang="zh-CN" sz="2000" dirty="0">
                <a:latin typeface="Helvetica" pitchFamily="2" charset="0"/>
              </a:rPr>
              <a:t>the tokenizer is first trained independently to produce static item IDs, which the recommender then uses for generation</a:t>
            </a:r>
          </a:p>
          <a:p>
            <a:pPr marL="914400" lvl="1" indent="-457200">
              <a:lnSpc>
                <a:spcPct val="150000"/>
              </a:lnSpc>
              <a:buFont typeface="Wingdings" pitchFamily="2" charset="2"/>
              <a:buChar char="p"/>
            </a:pPr>
            <a:r>
              <a:rPr lang="en-US" altLang="zh-CN" sz="2000" b="1" dirty="0">
                <a:solidFill>
                  <a:srgbClr val="002060"/>
                </a:solidFill>
                <a:latin typeface="Helvetica" pitchFamily="2" charset="0"/>
              </a:rPr>
              <a:t>A</a:t>
            </a:r>
            <a:r>
              <a:rPr lang="zh-CN" altLang="zh-CN" sz="2000" b="1" dirty="0">
                <a:solidFill>
                  <a:srgbClr val="002060"/>
                </a:solidFill>
                <a:latin typeface="Helvetica" pitchFamily="2" charset="0"/>
              </a:rPr>
              <a:t>lternating optimization</a:t>
            </a:r>
            <a:r>
              <a:rPr lang="en-US" altLang="zh-CN" sz="2000" b="1" dirty="0">
                <a:solidFill>
                  <a:srgbClr val="002060"/>
                </a:solidFill>
                <a:latin typeface="Helvetica" pitchFamily="2" charset="0"/>
              </a:rPr>
              <a:t>: </a:t>
            </a:r>
            <a:r>
              <a:rPr lang="en-US" altLang="zh-CN" sz="2000" dirty="0">
                <a:latin typeface="Helvetica" pitchFamily="2" charset="0"/>
              </a:rPr>
              <a:t>the tokenizer and recommender are updated iteratively</a:t>
            </a:r>
          </a:p>
          <a:p>
            <a:pPr marL="914400" lvl="1" indent="-457200">
              <a:lnSpc>
                <a:spcPct val="150000"/>
              </a:lnSpc>
              <a:buFont typeface="Wingdings" pitchFamily="2" charset="2"/>
              <a:buChar char="p"/>
            </a:pPr>
            <a:r>
              <a:rPr lang="en-US" altLang="zh-CN" sz="2000" b="1" dirty="0">
                <a:latin typeface="Helvetica" pitchFamily="2" charset="0"/>
              </a:rPr>
              <a:t>Decoupled</a:t>
            </a:r>
            <a:r>
              <a:rPr lang="en-US" altLang="zh-CN" sz="2000" dirty="0">
                <a:latin typeface="Helvetica" pitchFamily="2" charset="0"/>
              </a:rPr>
              <a:t> optimization trains the tokenizer </a:t>
            </a:r>
            <a:r>
              <a:rPr lang="en-US" altLang="zh-CN" sz="2000" b="1" dirty="0">
                <a:solidFill>
                  <a:srgbClr val="C00000"/>
                </a:solidFill>
                <a:latin typeface="Helvetica" pitchFamily="2" charset="0"/>
              </a:rPr>
              <a:t>without recommendation guidance</a:t>
            </a:r>
            <a:r>
              <a:rPr lang="en-US" altLang="zh-CN" sz="2000" dirty="0">
                <a:latin typeface="Helvetica" pitchFamily="2" charset="0"/>
              </a:rPr>
              <a:t>, yielding misaligned identifiers that hurt recommendation performance.</a:t>
            </a:r>
          </a:p>
          <a:p>
            <a:pPr marL="914400" lvl="1" indent="-457200">
              <a:lnSpc>
                <a:spcPct val="150000"/>
              </a:lnSpc>
              <a:buFont typeface="Wingdings" pitchFamily="2" charset="2"/>
              <a:buChar char="p"/>
            </a:pPr>
            <a:endParaRPr lang="en-US" altLang="zh-CN" sz="2000" dirty="0">
              <a:latin typeface="Helvetica" pitchFamily="2" charset="0"/>
            </a:endParaRPr>
          </a:p>
          <a:p>
            <a:pPr marL="914400" lvl="1" indent="-457200">
              <a:lnSpc>
                <a:spcPct val="150000"/>
              </a:lnSpc>
              <a:buFont typeface="Wingdings" pitchFamily="2" charset="2"/>
              <a:buChar char="p"/>
            </a:pPr>
            <a:endParaRPr kumimoji="1" lang="en-US" altLang="zh-CN" dirty="0">
              <a:latin typeface="Helvetica" pitchFamily="2" charset="0"/>
              <a:cs typeface="Arial" panose="020B0604020202020204" pitchFamily="34" charset="0"/>
            </a:endParaRPr>
          </a:p>
        </p:txBody>
      </p:sp>
      <p:pic>
        <p:nvPicPr>
          <p:cNvPr id="7" name="图片 6">
            <a:extLst>
              <a:ext uri="{FF2B5EF4-FFF2-40B4-BE49-F238E27FC236}">
                <a16:creationId xmlns:a16="http://schemas.microsoft.com/office/drawing/2014/main" id="{49629D68-643B-C8B7-C6FF-663D19F753A5}"/>
              </a:ext>
            </a:extLst>
          </p:cNvPr>
          <p:cNvPicPr>
            <a:picLocks noChangeAspect="1"/>
          </p:cNvPicPr>
          <p:nvPr/>
        </p:nvPicPr>
        <p:blipFill>
          <a:blip r:embed="rId3"/>
          <a:stretch>
            <a:fillRect/>
          </a:stretch>
        </p:blipFill>
        <p:spPr>
          <a:xfrm>
            <a:off x="7713784" y="2848965"/>
            <a:ext cx="4221582" cy="1933414"/>
          </a:xfrm>
          <a:prstGeom prst="rect">
            <a:avLst/>
          </a:prstGeom>
        </p:spPr>
      </p:pic>
    </p:spTree>
    <p:extLst>
      <p:ext uri="{BB962C8B-B14F-4D97-AF65-F5344CB8AC3E}">
        <p14:creationId xmlns:p14="http://schemas.microsoft.com/office/powerpoint/2010/main" val="3716344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Background</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Our Key Insight: Model the Mutual Dependence</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05/20</a:t>
            </a:r>
          </a:p>
        </p:txBody>
      </p:sp>
      <p:sp>
        <p:nvSpPr>
          <p:cNvPr id="4" name="正文"/>
          <p:cNvSpPr txBox="1"/>
          <p:nvPr/>
        </p:nvSpPr>
        <p:spPr>
          <a:xfrm>
            <a:off x="631810" y="1800107"/>
            <a:ext cx="11332302" cy="4017959"/>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400" dirty="0">
                <a:latin typeface="Helvetica" pitchFamily="2" charset="0"/>
              </a:rPr>
              <a:t>Root cause: separate training breaks the </a:t>
            </a:r>
            <a:r>
              <a:rPr kumimoji="1" lang="en-US" altLang="zh-CN" sz="2400" b="1" dirty="0">
                <a:solidFill>
                  <a:srgbClr val="002060"/>
                </a:solidFill>
                <a:latin typeface="Helvetica" pitchFamily="2" charset="0"/>
              </a:rPr>
              <a:t>interdependence</a:t>
            </a:r>
            <a:r>
              <a:rPr kumimoji="1" lang="en-US" altLang="zh-CN" sz="2400" dirty="0">
                <a:latin typeface="Helvetica" pitchFamily="2" charset="0"/>
              </a:rPr>
              <a:t> </a:t>
            </a:r>
          </a:p>
          <a:p>
            <a:pPr marL="914400" lvl="1" indent="-457200">
              <a:lnSpc>
                <a:spcPct val="150000"/>
              </a:lnSpc>
              <a:buFont typeface="Wingdings" pitchFamily="2" charset="2"/>
              <a:buChar char="p"/>
            </a:pPr>
            <a:r>
              <a:rPr kumimoji="1" lang="en-US" altLang="zh-CN" sz="2000" dirty="0">
                <a:latin typeface="Helvetica" pitchFamily="2" charset="0"/>
              </a:rPr>
              <a:t>A better tokenizer → better item representations → more accurate next-item prediction</a:t>
            </a:r>
          </a:p>
          <a:p>
            <a:pPr marL="914400" lvl="1" indent="-457200">
              <a:lnSpc>
                <a:spcPct val="150000"/>
              </a:lnSpc>
              <a:buFont typeface="Wingdings" pitchFamily="2" charset="2"/>
              <a:buChar char="p"/>
            </a:pPr>
            <a:r>
              <a:rPr kumimoji="1" lang="en-US" altLang="zh-CN" sz="2000" dirty="0">
                <a:latin typeface="Helvetica" pitchFamily="2" charset="0"/>
              </a:rPr>
              <a:t>The recommender needs recommendation-aligned identifiers to model user</a:t>
            </a:r>
            <a:r>
              <a:rPr kumimoji="1" lang="zh-CN" altLang="en-US" sz="2000" dirty="0">
                <a:latin typeface="Helvetica" pitchFamily="2" charset="0"/>
              </a:rPr>
              <a:t> </a:t>
            </a:r>
            <a:r>
              <a:rPr kumimoji="1" lang="en-US" altLang="zh-CN" sz="2000" dirty="0">
                <a:latin typeface="Helvetica" pitchFamily="2" charset="0"/>
              </a:rPr>
              <a:t>preference</a:t>
            </a:r>
          </a:p>
          <a:p>
            <a:pPr marL="457200" indent="-457200">
              <a:lnSpc>
                <a:spcPct val="150000"/>
              </a:lnSpc>
              <a:buFont typeface="Wingdings" pitchFamily="2" charset="2"/>
              <a:buChar char="p"/>
            </a:pPr>
            <a:r>
              <a:rPr kumimoji="1" lang="en-US" altLang="zh-CN" sz="2400" b="1" dirty="0">
                <a:solidFill>
                  <a:srgbClr val="C00000"/>
                </a:solidFill>
                <a:latin typeface="Helvetica" pitchFamily="2" charset="0"/>
              </a:rPr>
              <a:t>Our key insight</a:t>
            </a:r>
          </a:p>
          <a:p>
            <a:pPr marL="914400" lvl="1" indent="-457200">
              <a:lnSpc>
                <a:spcPct val="150000"/>
              </a:lnSpc>
              <a:buFont typeface="Wingdings" pitchFamily="2" charset="2"/>
              <a:buChar char="p"/>
            </a:pPr>
            <a:r>
              <a:rPr kumimoji="1" lang="en-US" altLang="zh-CN" sz="2000" dirty="0">
                <a:latin typeface="Helvetica" pitchFamily="2" charset="0"/>
              </a:rPr>
              <a:t>The tokenizer’s efficacy is directly reflected in the recommender’s performance</a:t>
            </a:r>
          </a:p>
          <a:p>
            <a:pPr marL="457200" indent="-457200">
              <a:lnSpc>
                <a:spcPct val="150000"/>
              </a:lnSpc>
              <a:buFont typeface="Wingdings" pitchFamily="2" charset="2"/>
              <a:buChar char="p"/>
            </a:pPr>
            <a:r>
              <a:rPr kumimoji="1" lang="en-US" altLang="zh-CN" sz="2400" dirty="0">
                <a:latin typeface="Helvetica" pitchFamily="2" charset="0"/>
              </a:rPr>
              <a:t>Reformulate it as a </a:t>
            </a:r>
            <a:r>
              <a:rPr kumimoji="1" lang="en-US" altLang="zh-CN" sz="2400" b="1" dirty="0">
                <a:solidFill>
                  <a:srgbClr val="002060"/>
                </a:solidFill>
                <a:latin typeface="Helvetica" pitchFamily="2" charset="0"/>
              </a:rPr>
              <a:t>bi-level optimization</a:t>
            </a:r>
            <a:r>
              <a:rPr kumimoji="1" lang="en-US" altLang="zh-CN" sz="2400" dirty="0">
                <a:latin typeface="Helvetica" pitchFamily="2" charset="0"/>
              </a:rPr>
              <a:t> problem</a:t>
            </a:r>
          </a:p>
          <a:p>
            <a:pPr marL="914400" lvl="1" indent="-457200">
              <a:lnSpc>
                <a:spcPct val="150000"/>
              </a:lnSpc>
              <a:buFont typeface="Wingdings" pitchFamily="2" charset="2"/>
              <a:buChar char="p"/>
            </a:pPr>
            <a:r>
              <a:rPr kumimoji="1" lang="en-US" altLang="zh-CN" sz="2000" dirty="0">
                <a:latin typeface="Helvetica" pitchFamily="2" charset="0"/>
              </a:rPr>
              <a:t>Inner level trains the recommender on tokenized inputs</a:t>
            </a:r>
          </a:p>
          <a:p>
            <a:pPr marL="914400" lvl="1" indent="-457200">
              <a:lnSpc>
                <a:spcPct val="150000"/>
              </a:lnSpc>
              <a:buFont typeface="Wingdings" pitchFamily="2" charset="2"/>
              <a:buChar char="p"/>
            </a:pPr>
            <a:r>
              <a:rPr kumimoji="1" lang="en-US" altLang="zh-CN" sz="2000" dirty="0">
                <a:latin typeface="Helvetica" pitchFamily="2" charset="0"/>
              </a:rPr>
              <a:t>Outer level optimizes the tokenizer using both tokenization loss and recommendation loss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Methodology</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Bi-Level Optimization Formulation</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06/20</a:t>
            </a:r>
          </a:p>
        </p:txBody>
      </p:sp>
      <p:sp>
        <p:nvSpPr>
          <p:cNvPr id="4" name="正文"/>
          <p:cNvSpPr txBox="1"/>
          <p:nvPr/>
        </p:nvSpPr>
        <p:spPr>
          <a:xfrm>
            <a:off x="631811" y="1800107"/>
            <a:ext cx="10900000" cy="4101379"/>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400" dirty="0">
                <a:latin typeface="Helvetica" pitchFamily="2" charset="0"/>
              </a:rPr>
              <a:t>Prior strategies decouple tokenization and generation</a:t>
            </a:r>
          </a:p>
          <a:p>
            <a:pPr marL="914400" lvl="1" indent="-457200">
              <a:lnSpc>
                <a:spcPct val="150000"/>
              </a:lnSpc>
              <a:buFont typeface="Wingdings" pitchFamily="2" charset="2"/>
              <a:buChar char="p"/>
            </a:pPr>
            <a:r>
              <a:rPr kumimoji="1" lang="en-US" altLang="zh-CN" sz="2000" b="1" dirty="0">
                <a:solidFill>
                  <a:srgbClr val="002060"/>
                </a:solidFill>
                <a:latin typeface="Helvetica" pitchFamily="2" charset="0"/>
              </a:rPr>
              <a:t>Sequential</a:t>
            </a:r>
            <a:r>
              <a:rPr kumimoji="1" lang="en-US" altLang="zh-CN" sz="2000" dirty="0">
                <a:latin typeface="Helvetica" pitchFamily="2" charset="0"/>
              </a:rPr>
              <a:t>: tokenizer frozen after pre-training, no recommendation guidance</a:t>
            </a:r>
          </a:p>
          <a:p>
            <a:pPr marL="914400" lvl="1" indent="-457200">
              <a:lnSpc>
                <a:spcPct val="150000"/>
              </a:lnSpc>
              <a:buFont typeface="Wingdings" pitchFamily="2" charset="2"/>
              <a:buChar char="p"/>
            </a:pPr>
            <a:r>
              <a:rPr kumimoji="1" lang="en-US" altLang="zh-CN" sz="2000" b="1" dirty="0">
                <a:solidFill>
                  <a:srgbClr val="002060"/>
                </a:solidFill>
                <a:latin typeface="Helvetica" pitchFamily="2" charset="0"/>
              </a:rPr>
              <a:t>Alternating</a:t>
            </a:r>
            <a:r>
              <a:rPr kumimoji="1" lang="en-US" altLang="zh-CN" sz="2000" dirty="0">
                <a:latin typeface="Helvetica" pitchFamily="2" charset="0"/>
              </a:rPr>
              <a:t>: iterative updates via hand-crafted auxiliary alignment losses</a:t>
            </a:r>
          </a:p>
          <a:p>
            <a:pPr marL="457200" indent="-457200">
              <a:lnSpc>
                <a:spcPct val="150000"/>
              </a:lnSpc>
              <a:buFont typeface="Wingdings" pitchFamily="2" charset="2"/>
              <a:buChar char="p"/>
            </a:pPr>
            <a:r>
              <a:rPr kumimoji="1" lang="en-US" altLang="zh-CN" sz="2400" b="1" dirty="0">
                <a:solidFill>
                  <a:srgbClr val="C00000"/>
                </a:solidFill>
                <a:latin typeface="Helvetica" pitchFamily="2" charset="0"/>
              </a:rPr>
              <a:t>BLOGER — unified bi-level objective</a:t>
            </a:r>
          </a:p>
          <a:p>
            <a:pPr marL="914400" lvl="1" indent="-457200">
              <a:lnSpc>
                <a:spcPct val="150000"/>
              </a:lnSpc>
              <a:buNone/>
            </a:pPr>
            <a:r>
              <a:rPr kumimoji="1" lang="en-US" altLang="zh-CN" sz="2000" dirty="0">
                <a:latin typeface="Helvetica" pitchFamily="2" charset="0"/>
              </a:rPr>
              <a:t>					(outer)</a:t>
            </a:r>
          </a:p>
          <a:p>
            <a:pPr marL="914400" lvl="1" indent="-457200">
              <a:lnSpc>
                <a:spcPct val="150000"/>
              </a:lnSpc>
              <a:buNone/>
            </a:pPr>
            <a:r>
              <a:rPr kumimoji="1" lang="en-US" altLang="zh-CN" sz="2000" dirty="0">
                <a:latin typeface="Helvetica" pitchFamily="2" charset="0"/>
              </a:rPr>
              <a:t>					(inner)</a:t>
            </a:r>
          </a:p>
          <a:p>
            <a:pPr marL="457200" indent="-457200">
              <a:lnSpc>
                <a:spcPct val="150000"/>
              </a:lnSpc>
              <a:buFont typeface="Wingdings" pitchFamily="2" charset="2"/>
              <a:buChar char="p"/>
            </a:pPr>
            <a:r>
              <a:rPr kumimoji="1" lang="en-US" altLang="zh-CN" sz="2400" dirty="0">
                <a:latin typeface="Helvetica" pitchFamily="2" charset="0"/>
              </a:rPr>
              <a:t>Recommendation loss directly supervises the tokenizer — no auxiliary objective needed</a:t>
            </a:r>
          </a:p>
        </p:txBody>
      </p:sp>
      <p:pic>
        <p:nvPicPr>
          <p:cNvPr id="7" name="图片 7"/>
          <p:cNvPicPr>
            <a:picLocks noChangeAspect="1"/>
          </p:cNvPicPr>
          <p:nvPr/>
        </p:nvPicPr>
        <p:blipFill>
          <a:blip r:embed="rId3"/>
          <a:stretch>
            <a:fillRect/>
          </a:stretch>
        </p:blipFill>
        <p:spPr>
          <a:xfrm>
            <a:off x="6587306" y="3377954"/>
            <a:ext cx="5192242" cy="1515809"/>
          </a:xfrm>
          <a:prstGeom prst="rect">
            <a:avLst/>
          </a:prstGeom>
        </p:spPr>
      </p:pic>
      <p:pic>
        <p:nvPicPr>
          <p:cNvPr id="5" name="图片 4">
            <a:extLst>
              <a:ext uri="{FF2B5EF4-FFF2-40B4-BE49-F238E27FC236}">
                <a16:creationId xmlns:a16="http://schemas.microsoft.com/office/drawing/2014/main" id="{71842624-CC55-36C0-9B1F-4134B860C866}"/>
              </a:ext>
            </a:extLst>
          </p:cNvPr>
          <p:cNvPicPr>
            <a:picLocks noChangeAspect="1"/>
          </p:cNvPicPr>
          <p:nvPr/>
        </p:nvPicPr>
        <p:blipFill>
          <a:blip r:embed="rId4"/>
          <a:stretch>
            <a:fillRect/>
          </a:stretch>
        </p:blipFill>
        <p:spPr>
          <a:xfrm>
            <a:off x="1373008" y="3850796"/>
            <a:ext cx="3632011" cy="9619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Methodology</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BLOGER Framework Overview</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07/20</a:t>
            </a:r>
          </a:p>
        </p:txBody>
      </p:sp>
      <p:sp>
        <p:nvSpPr>
          <p:cNvPr id="4" name="正文"/>
          <p:cNvSpPr txBox="1"/>
          <p:nvPr/>
        </p:nvSpPr>
        <p:spPr>
          <a:xfrm>
            <a:off x="631811" y="1800107"/>
            <a:ext cx="6287604" cy="4202625"/>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Encoder-decoder recommender (T5) + RQ-VAE tokenizer, trained jointly</a:t>
            </a:r>
          </a:p>
          <a:p>
            <a:pPr marL="457200" indent="-457200">
              <a:lnSpc>
                <a:spcPct val="150000"/>
              </a:lnSpc>
              <a:buFont typeface="Wingdings" pitchFamily="2" charset="2"/>
              <a:buChar char="p"/>
            </a:pPr>
            <a:r>
              <a:rPr kumimoji="1" lang="en-US" altLang="zh-CN" sz="2000" b="1" dirty="0">
                <a:solidFill>
                  <a:srgbClr val="002060"/>
                </a:solidFill>
                <a:latin typeface="Helvetica" pitchFamily="2" charset="0"/>
              </a:rPr>
              <a:t>Mixed representation</a:t>
            </a:r>
            <a:r>
              <a:rPr kumimoji="1" lang="en-US" altLang="zh-CN" sz="2000" dirty="0">
                <a:latin typeface="Helvetica" pitchFamily="2" charset="0"/>
              </a:rPr>
              <a:t> over codebook probabilities makes the recommendation loss differentiable w.r.t. the tokenizer</a:t>
            </a:r>
          </a:p>
          <a:p>
            <a:pPr marL="457200" indent="-457200">
              <a:lnSpc>
                <a:spcPct val="150000"/>
              </a:lnSpc>
              <a:buFont typeface="Wingdings" pitchFamily="2" charset="2"/>
              <a:buChar char="p"/>
            </a:pPr>
            <a:r>
              <a:rPr kumimoji="1" lang="en-US" altLang="zh-CN" sz="2000" b="1" dirty="0">
                <a:solidFill>
                  <a:srgbClr val="002060"/>
                </a:solidFill>
                <a:latin typeface="Helvetica" pitchFamily="2" charset="0"/>
              </a:rPr>
              <a:t>Meta-learning strategy</a:t>
            </a:r>
            <a:r>
              <a:rPr kumimoji="1" lang="en-US" altLang="zh-CN" sz="2000" dirty="0">
                <a:latin typeface="Helvetica" pitchFamily="2" charset="0"/>
              </a:rPr>
              <a:t> enables efficient bi-level optimization</a:t>
            </a:r>
          </a:p>
          <a:p>
            <a:pPr marL="457200" indent="-457200">
              <a:lnSpc>
                <a:spcPct val="150000"/>
              </a:lnSpc>
              <a:buFont typeface="Wingdings" pitchFamily="2" charset="2"/>
              <a:buChar char="p"/>
            </a:pPr>
            <a:r>
              <a:rPr kumimoji="1" lang="en-US" altLang="zh-CN" sz="2000" b="1" dirty="0">
                <a:solidFill>
                  <a:srgbClr val="C00000"/>
                </a:solidFill>
                <a:latin typeface="Helvetica" pitchFamily="2" charset="0"/>
              </a:rPr>
              <a:t>Gradient surgery</a:t>
            </a:r>
            <a:r>
              <a:rPr kumimoji="1" lang="en-US" altLang="zh-CN" sz="2000" dirty="0">
                <a:latin typeface="Helvetica" pitchFamily="2" charset="0"/>
              </a:rPr>
              <a:t> extracts the beneficial, conflict-free component of the recommendation gradient</a:t>
            </a:r>
          </a:p>
        </p:txBody>
      </p:sp>
      <p:pic>
        <p:nvPicPr>
          <p:cNvPr id="8" name="图片 8"/>
          <p:cNvPicPr>
            <a:picLocks noChangeAspect="1"/>
          </p:cNvPicPr>
          <p:nvPr/>
        </p:nvPicPr>
        <p:blipFill>
          <a:blip r:embed="rId3"/>
          <a:stretch>
            <a:fillRect/>
          </a:stretch>
        </p:blipFill>
        <p:spPr>
          <a:xfrm>
            <a:off x="6700000" y="2050000"/>
            <a:ext cx="5000000" cy="313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Methodology</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Item Tokenizer: Residual Quantization</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08/20</a:t>
            </a:r>
          </a:p>
        </p:txBody>
      </p:sp>
      <p:sp>
        <p:nvSpPr>
          <p:cNvPr id="4" name="正文"/>
          <p:cNvSpPr txBox="1"/>
          <p:nvPr/>
        </p:nvSpPr>
        <p:spPr>
          <a:xfrm>
            <a:off x="631811" y="1800107"/>
            <a:ext cx="10900000" cy="2993448"/>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400" dirty="0">
                <a:latin typeface="Helvetica" pitchFamily="2" charset="0"/>
              </a:rPr>
              <a:t>Represent each item as </a:t>
            </a:r>
            <a:r>
              <a:rPr kumimoji="1" lang="en-US" altLang="zh-CN" sz="2400" b="1" dirty="0">
                <a:solidFill>
                  <a:srgbClr val="002060"/>
                </a:solidFill>
                <a:latin typeface="Helvetica" pitchFamily="2" charset="0"/>
              </a:rPr>
              <a:t>L discrete tokens</a:t>
            </a:r>
            <a:r>
              <a:rPr kumimoji="1" lang="en-US" altLang="zh-CN" sz="2400" dirty="0">
                <a:latin typeface="Helvetica" pitchFamily="2" charset="0"/>
              </a:rPr>
              <a:t> via RQ over L codebooks</a:t>
            </a:r>
          </a:p>
          <a:p>
            <a:pPr marL="914400" lvl="1" indent="-457200">
              <a:lnSpc>
                <a:spcPct val="150000"/>
              </a:lnSpc>
              <a:buNone/>
            </a:pPr>
            <a:r>
              <a:rPr kumimoji="1" lang="en-US" altLang="zh-CN" sz="2000" dirty="0">
                <a:latin typeface="Helvetica" pitchFamily="2" charset="0"/>
              </a:rPr>
              <a:t>Soft assignment:  </a:t>
            </a:r>
          </a:p>
          <a:p>
            <a:pPr marL="914400" lvl="1" indent="-457200">
              <a:lnSpc>
                <a:spcPct val="150000"/>
              </a:lnSpc>
              <a:buNone/>
            </a:pPr>
            <a:endParaRPr kumimoji="1" lang="en-US" altLang="zh-CN" sz="2000" dirty="0">
              <a:latin typeface="Helvetica" pitchFamily="2" charset="0"/>
            </a:endParaRPr>
          </a:p>
          <a:p>
            <a:pPr marL="914400" lvl="1" indent="-457200">
              <a:lnSpc>
                <a:spcPct val="150000"/>
              </a:lnSpc>
              <a:buNone/>
            </a:pPr>
            <a:r>
              <a:rPr kumimoji="1" lang="en-US" altLang="zh-CN" sz="2000" dirty="0">
                <a:latin typeface="Helvetica" pitchFamily="2" charset="0"/>
              </a:rPr>
              <a:t>Hard token:				;   residual:	</a:t>
            </a:r>
          </a:p>
          <a:p>
            <a:pPr marL="914400" lvl="1" indent="-457200">
              <a:lnSpc>
                <a:spcPct val="150000"/>
              </a:lnSpc>
              <a:buNone/>
            </a:pPr>
            <a:r>
              <a:rPr kumimoji="1" lang="en-US" altLang="zh-CN" sz="2000" dirty="0">
                <a:latin typeface="Helvetica" pitchFamily="2" charset="0"/>
              </a:rPr>
              <a:t>Reconstruct semantic embedding from quantized code:</a:t>
            </a:r>
            <a:r>
              <a:rPr kumimoji="1" lang="zh-CN" altLang="en-US" sz="2000" dirty="0">
                <a:latin typeface="Helvetica" pitchFamily="2" charset="0"/>
              </a:rPr>
              <a:t> </a:t>
            </a:r>
            <a:endParaRPr kumimoji="1" lang="en-US" altLang="zh-CN" sz="2000" dirty="0">
              <a:latin typeface="Helvetica" pitchFamily="2" charset="0"/>
            </a:endParaRPr>
          </a:p>
          <a:p>
            <a:pPr marL="457200" indent="-457200">
              <a:lnSpc>
                <a:spcPct val="150000"/>
              </a:lnSpc>
              <a:buFont typeface="Wingdings" pitchFamily="2" charset="2"/>
              <a:buChar char="p"/>
            </a:pPr>
            <a:r>
              <a:rPr kumimoji="1" lang="en-US" altLang="zh-CN" sz="2400" b="1" dirty="0">
                <a:solidFill>
                  <a:srgbClr val="C00000"/>
                </a:solidFill>
                <a:latin typeface="Helvetica" pitchFamily="2" charset="0"/>
              </a:rPr>
              <a:t>Tokenization loss</a:t>
            </a:r>
            <a:r>
              <a:rPr kumimoji="1" lang="en-US" altLang="zh-CN" sz="2400" dirty="0">
                <a:latin typeface="Helvetica" pitchFamily="2" charset="0"/>
              </a:rPr>
              <a:t> = reconstruction + commitment with stop-gradient</a:t>
            </a:r>
          </a:p>
        </p:txBody>
      </p:sp>
      <p:pic>
        <p:nvPicPr>
          <p:cNvPr id="5" name="图片 4">
            <a:extLst>
              <a:ext uri="{FF2B5EF4-FFF2-40B4-BE49-F238E27FC236}">
                <a16:creationId xmlns:a16="http://schemas.microsoft.com/office/drawing/2014/main" id="{F4034C51-BD05-37CB-8871-7C0BA71BE195}"/>
              </a:ext>
            </a:extLst>
          </p:cNvPr>
          <p:cNvPicPr>
            <a:picLocks noChangeAspect="1"/>
          </p:cNvPicPr>
          <p:nvPr/>
        </p:nvPicPr>
        <p:blipFill>
          <a:blip r:embed="rId3"/>
          <a:stretch>
            <a:fillRect/>
          </a:stretch>
        </p:blipFill>
        <p:spPr>
          <a:xfrm>
            <a:off x="3219355" y="2358156"/>
            <a:ext cx="3274795" cy="958250"/>
          </a:xfrm>
          <a:prstGeom prst="rect">
            <a:avLst/>
          </a:prstGeom>
        </p:spPr>
      </p:pic>
      <p:pic>
        <p:nvPicPr>
          <p:cNvPr id="6" name="图片 5">
            <a:extLst>
              <a:ext uri="{FF2B5EF4-FFF2-40B4-BE49-F238E27FC236}">
                <a16:creationId xmlns:a16="http://schemas.microsoft.com/office/drawing/2014/main" id="{75CD7899-7245-ACA1-381B-8C3E897F5847}"/>
              </a:ext>
            </a:extLst>
          </p:cNvPr>
          <p:cNvPicPr>
            <a:picLocks noChangeAspect="1"/>
          </p:cNvPicPr>
          <p:nvPr/>
        </p:nvPicPr>
        <p:blipFill>
          <a:blip r:embed="rId4"/>
          <a:stretch>
            <a:fillRect/>
          </a:stretch>
        </p:blipFill>
        <p:spPr>
          <a:xfrm>
            <a:off x="2844733" y="3333602"/>
            <a:ext cx="2191291" cy="540853"/>
          </a:xfrm>
          <a:prstGeom prst="rect">
            <a:avLst/>
          </a:prstGeom>
        </p:spPr>
      </p:pic>
      <p:pic>
        <p:nvPicPr>
          <p:cNvPr id="7" name="图片 6">
            <a:extLst>
              <a:ext uri="{FF2B5EF4-FFF2-40B4-BE49-F238E27FC236}">
                <a16:creationId xmlns:a16="http://schemas.microsoft.com/office/drawing/2014/main" id="{62E365C1-78A3-447D-CAFC-483357AD56E7}"/>
              </a:ext>
            </a:extLst>
          </p:cNvPr>
          <p:cNvPicPr>
            <a:picLocks noChangeAspect="1"/>
          </p:cNvPicPr>
          <p:nvPr/>
        </p:nvPicPr>
        <p:blipFill>
          <a:blip r:embed="rId5"/>
          <a:stretch>
            <a:fillRect/>
          </a:stretch>
        </p:blipFill>
        <p:spPr>
          <a:xfrm>
            <a:off x="6739840" y="3316406"/>
            <a:ext cx="1926489" cy="467276"/>
          </a:xfrm>
          <a:prstGeom prst="rect">
            <a:avLst/>
          </a:prstGeom>
        </p:spPr>
      </p:pic>
      <p:pic>
        <p:nvPicPr>
          <p:cNvPr id="8" name="图片 7">
            <a:extLst>
              <a:ext uri="{FF2B5EF4-FFF2-40B4-BE49-F238E27FC236}">
                <a16:creationId xmlns:a16="http://schemas.microsoft.com/office/drawing/2014/main" id="{ECF72EE6-DE5C-FE9C-B4EA-2B48C364490B}"/>
              </a:ext>
            </a:extLst>
          </p:cNvPr>
          <p:cNvPicPr>
            <a:picLocks noChangeAspect="1"/>
          </p:cNvPicPr>
          <p:nvPr/>
        </p:nvPicPr>
        <p:blipFill>
          <a:blip r:embed="rId6"/>
          <a:stretch>
            <a:fillRect/>
          </a:stretch>
        </p:blipFill>
        <p:spPr>
          <a:xfrm>
            <a:off x="7420778" y="3821048"/>
            <a:ext cx="1926489" cy="434138"/>
          </a:xfrm>
          <a:prstGeom prst="rect">
            <a:avLst/>
          </a:prstGeom>
        </p:spPr>
      </p:pic>
      <p:pic>
        <p:nvPicPr>
          <p:cNvPr id="9" name="图片 8">
            <a:extLst>
              <a:ext uri="{FF2B5EF4-FFF2-40B4-BE49-F238E27FC236}">
                <a16:creationId xmlns:a16="http://schemas.microsoft.com/office/drawing/2014/main" id="{535CFAAD-7C48-A1B2-76D2-0108197CC8C0}"/>
              </a:ext>
            </a:extLst>
          </p:cNvPr>
          <p:cNvPicPr>
            <a:picLocks noChangeAspect="1"/>
          </p:cNvPicPr>
          <p:nvPr/>
        </p:nvPicPr>
        <p:blipFill>
          <a:blip r:embed="rId7"/>
          <a:stretch>
            <a:fillRect/>
          </a:stretch>
        </p:blipFill>
        <p:spPr>
          <a:xfrm>
            <a:off x="8821753" y="3315057"/>
            <a:ext cx="1621721" cy="467276"/>
          </a:xfrm>
          <a:prstGeom prst="rect">
            <a:avLst/>
          </a:prstGeom>
        </p:spPr>
      </p:pic>
      <p:pic>
        <p:nvPicPr>
          <p:cNvPr id="10" name="图片 9">
            <a:extLst>
              <a:ext uri="{FF2B5EF4-FFF2-40B4-BE49-F238E27FC236}">
                <a16:creationId xmlns:a16="http://schemas.microsoft.com/office/drawing/2014/main" id="{7FB2EF05-A4CC-EFBA-F322-EA8638AF549B}"/>
              </a:ext>
            </a:extLst>
          </p:cNvPr>
          <p:cNvPicPr>
            <a:picLocks noChangeAspect="1"/>
          </p:cNvPicPr>
          <p:nvPr/>
        </p:nvPicPr>
        <p:blipFill>
          <a:blip r:embed="rId8"/>
          <a:stretch>
            <a:fillRect/>
          </a:stretch>
        </p:blipFill>
        <p:spPr>
          <a:xfrm>
            <a:off x="1268105" y="4830430"/>
            <a:ext cx="7772400" cy="9361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Methodology</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Mixed Representation for Differentiability</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09/20</a:t>
            </a:r>
          </a:p>
        </p:txBody>
      </p:sp>
      <mc:AlternateContent xmlns:mc="http://schemas.openxmlformats.org/markup-compatibility/2006" xmlns:a14="http://schemas.microsoft.com/office/drawing/2010/main">
        <mc:Choice Requires="a14">
          <p:sp>
            <p:nvSpPr>
              <p:cNvPr id="4" name="正文"/>
              <p:cNvSpPr txBox="1"/>
              <p:nvPr/>
            </p:nvSpPr>
            <p:spPr>
              <a:xfrm>
                <a:off x="631811" y="1800107"/>
                <a:ext cx="10900000" cy="3386825"/>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Discrete tokenization is </a:t>
                </a:r>
                <a:r>
                  <a:rPr kumimoji="1" lang="en-US" altLang="zh-CN" sz="2000" b="1" dirty="0">
                    <a:solidFill>
                      <a:srgbClr val="C00000"/>
                    </a:solidFill>
                    <a:latin typeface="Helvetica" pitchFamily="2" charset="0"/>
                  </a:rPr>
                  <a:t>non-differentiable</a:t>
                </a:r>
                <a:r>
                  <a:rPr kumimoji="1" lang="en-US" altLang="zh-CN" sz="2000" dirty="0">
                    <a:latin typeface="Helvetica" pitchFamily="2" charset="0"/>
                  </a:rPr>
                  <a:t> — blocks gradient flow to the tokenizer</a:t>
                </a:r>
              </a:p>
              <a:p>
                <a:pPr marL="914400" lvl="1" indent="-457200">
                  <a:lnSpc>
                    <a:spcPct val="150000"/>
                  </a:lnSpc>
                  <a:buFont typeface="Wingdings" pitchFamily="2" charset="2"/>
                  <a:buChar char="p"/>
                </a:pPr>
                <a:r>
                  <a:rPr kumimoji="1" lang="en-US" altLang="zh-CN" sz="2000" dirty="0">
                    <a:latin typeface="Helvetica" pitchFamily="2" charset="0"/>
                  </a:rPr>
                  <a:t>Soft embedding: </a:t>
                </a:r>
                <a14:m>
                  <m:oMath xmlns:m="http://schemas.openxmlformats.org/officeDocument/2006/math">
                    <m:sSubSup>
                      <m:sSubSupPr>
                        <m:ctrlPr>
                          <a:rPr kumimoji="1" lang="en-US" altLang="zh-CN" sz="2000" i="1" dirty="0" smtClean="0">
                            <a:latin typeface="Cambria Math" panose="02040503050406030204" pitchFamily="18" charset="0"/>
                          </a:rPr>
                        </m:ctrlPr>
                      </m:sSubSupPr>
                      <m:e>
                        <m:r>
                          <a:rPr kumimoji="1" lang="en-US" altLang="zh-CN" sz="2000" i="1" dirty="0" smtClean="0">
                            <a:latin typeface="Cambria Math" panose="02040503050406030204" pitchFamily="18" charset="0"/>
                          </a:rPr>
                          <m:t>𝑠</m:t>
                        </m:r>
                      </m:e>
                      <m:sub>
                        <m:r>
                          <a:rPr kumimoji="1" lang="en-US" altLang="zh-CN" sz="2000" i="1" dirty="0" smtClean="0">
                            <a:latin typeface="Cambria Math" panose="02040503050406030204" pitchFamily="18" charset="0"/>
                          </a:rPr>
                          <m:t>𝑙</m:t>
                        </m:r>
                      </m:sub>
                      <m:sup>
                        <m:r>
                          <a:rPr kumimoji="1" lang="en-US" altLang="zh-CN" sz="2000" i="1" dirty="0" smtClean="0">
                            <a:latin typeface="Cambria Math" panose="02040503050406030204" pitchFamily="18" charset="0"/>
                          </a:rPr>
                          <m:t>𝑡</m:t>
                        </m:r>
                      </m:sup>
                    </m:sSubSup>
                    <m:r>
                      <a:rPr kumimoji="1" lang="en-US" altLang="zh-CN" sz="2000" i="1" dirty="0" smtClean="0">
                        <a:latin typeface="Cambria Math" panose="02040503050406030204" pitchFamily="18" charset="0"/>
                      </a:rPr>
                      <m:t> </m:t>
                    </m:r>
                  </m:oMath>
                </a14:m>
                <a:r>
                  <a:rPr kumimoji="1" lang="en-US" altLang="zh-CN" sz="2000" dirty="0">
                    <a:latin typeface="Helvetica" pitchFamily="2" charset="0"/>
                  </a:rPr>
                  <a:t>= weighted average of vocabulary embeddings </a:t>
                </a:r>
                <a14:m>
                  <m:oMath xmlns:m="http://schemas.openxmlformats.org/officeDocument/2006/math">
                    <m:sSub>
                      <m:sSubPr>
                        <m:ctrlPr>
                          <a:rPr kumimoji="1" lang="en-US" altLang="zh-CN" sz="2000" i="1" dirty="0" smtClean="0">
                            <a:latin typeface="Cambria Math" panose="02040503050406030204" pitchFamily="18" charset="0"/>
                          </a:rPr>
                        </m:ctrlPr>
                      </m:sSubPr>
                      <m:e>
                        <m:r>
                          <a:rPr kumimoji="1" lang="en-US" altLang="zh-CN" sz="2000" i="1" dirty="0" smtClean="0">
                            <a:latin typeface="Cambria Math" panose="02040503050406030204" pitchFamily="18" charset="0"/>
                          </a:rPr>
                          <m:t>𝐸</m:t>
                        </m:r>
                      </m:e>
                      <m:sub>
                        <m:r>
                          <a:rPr kumimoji="1" lang="en-US" altLang="zh-CN" sz="2000" i="1" dirty="0" smtClean="0">
                            <a:latin typeface="Cambria Math" panose="02040503050406030204" pitchFamily="18" charset="0"/>
                          </a:rPr>
                          <m:t>𝑉</m:t>
                        </m:r>
                      </m:sub>
                    </m:sSub>
                  </m:oMath>
                </a14:m>
                <a:r>
                  <a:rPr kumimoji="1" lang="en-US" altLang="zh-CN" sz="2000" dirty="0">
                    <a:latin typeface="Helvetica" pitchFamily="2" charset="0"/>
                  </a:rPr>
                  <a:t> over padded probabilities</a:t>
                </a:r>
              </a:p>
              <a:p>
                <a:pPr marL="914400" lvl="1" indent="-457200">
                  <a:lnSpc>
                    <a:spcPct val="150000"/>
                  </a:lnSpc>
                  <a:buFont typeface="Wingdings" pitchFamily="2" charset="2"/>
                  <a:buChar char="p"/>
                </a:pPr>
                <a:r>
                  <a:rPr kumimoji="1" lang="en-US" altLang="zh-CN" sz="2000" b="1" dirty="0">
                    <a:solidFill>
                      <a:srgbClr val="002060"/>
                    </a:solidFill>
                    <a:latin typeface="Helvetica" pitchFamily="2" charset="0"/>
                  </a:rPr>
                  <a:t>Mixed representation:</a:t>
                </a:r>
                <a:r>
                  <a:rPr kumimoji="1" lang="zh-CN" altLang="en-US" sz="2000" b="1" dirty="0">
                    <a:solidFill>
                      <a:srgbClr val="002060"/>
                    </a:solidFill>
                    <a:latin typeface="Helvetica" pitchFamily="2" charset="0"/>
                  </a:rPr>
                  <a:t> </a:t>
                </a:r>
                <a:endParaRPr kumimoji="1" lang="en-US" altLang="zh-CN" sz="2000" dirty="0">
                  <a:latin typeface="Helvetica" pitchFamily="2" charset="0"/>
                </a:endParaRPr>
              </a:p>
              <a:p>
                <a:pPr marL="914400" lvl="1" indent="-457200">
                  <a:lnSpc>
                    <a:spcPct val="150000"/>
                  </a:lnSpc>
                  <a:buFont typeface="Wingdings" pitchFamily="2" charset="2"/>
                  <a:buChar char="p"/>
                </a:pPr>
                <a:r>
                  <a:rPr kumimoji="1" lang="en-US" altLang="zh-CN" sz="2000" dirty="0">
                    <a:latin typeface="Helvetica" pitchFamily="2" charset="0"/>
                  </a:rPr>
                  <a:t>Keeps the hard embedding’s value, but lets gradients flow only through the soft part</a:t>
                </a:r>
              </a:p>
              <a:p>
                <a:pPr marL="457200" indent="-457200">
                  <a:lnSpc>
                    <a:spcPct val="150000"/>
                  </a:lnSpc>
                  <a:buFont typeface="Wingdings" pitchFamily="2" charset="2"/>
                  <a:buChar char="p"/>
                </a:pPr>
                <a:r>
                  <a:rPr kumimoji="1" lang="en-US" altLang="zh-CN" sz="2000" b="1" dirty="0">
                    <a:latin typeface="Helvetica" pitchFamily="2" charset="0"/>
                  </a:rPr>
                  <a:t>Seq2Seq training on the T5 recommender</a:t>
                </a:r>
                <a:r>
                  <a:rPr kumimoji="1" lang="en-US" altLang="zh-CN" sz="2400" b="1" dirty="0">
                    <a:latin typeface="Helvetica" pitchFamily="2" charset="0"/>
                  </a:rPr>
                  <a:t>:</a:t>
                </a:r>
              </a:p>
              <a:p>
                <a:pPr marL="914400" lvl="1" indent="-457200">
                  <a:lnSpc>
                    <a:spcPct val="150000"/>
                  </a:lnSpc>
                  <a:buNone/>
                </a:pPr>
                <a:endParaRPr kumimoji="1" lang="en-US" altLang="zh-CN" sz="2000" dirty="0">
                  <a:latin typeface="Helvetica" pitchFamily="2" charset="0"/>
                </a:endParaRPr>
              </a:p>
            </p:txBody>
          </p:sp>
        </mc:Choice>
        <mc:Fallback xmlns="">
          <p:sp>
            <p:nvSpPr>
              <p:cNvPr id="4" name="正文"/>
              <p:cNvSpPr txBox="1">
                <a:spLocks noRot="1" noChangeAspect="1" noMove="1" noResize="1" noEditPoints="1" noAdjustHandles="1" noChangeArrowheads="1" noChangeShapeType="1" noTextEdit="1"/>
              </p:cNvSpPr>
              <p:nvPr/>
            </p:nvSpPr>
            <p:spPr>
              <a:xfrm>
                <a:off x="631811" y="1800107"/>
                <a:ext cx="10900000" cy="3386825"/>
              </a:xfrm>
              <a:prstGeom prst="rect">
                <a:avLst/>
              </a:prstGeom>
              <a:blipFill>
                <a:blip r:embed="rId3"/>
                <a:stretch>
                  <a:fillRect l="-46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C4B33DEB-6CC3-4F54-1102-1D1A5513B854}"/>
              </a:ext>
            </a:extLst>
          </p:cNvPr>
          <p:cNvPicPr>
            <a:picLocks noChangeAspect="1"/>
          </p:cNvPicPr>
          <p:nvPr/>
        </p:nvPicPr>
        <p:blipFill>
          <a:blip r:embed="rId4"/>
          <a:stretch>
            <a:fillRect/>
          </a:stretch>
        </p:blipFill>
        <p:spPr>
          <a:xfrm>
            <a:off x="4399992" y="3173744"/>
            <a:ext cx="2770285" cy="547217"/>
          </a:xfrm>
          <a:prstGeom prst="rect">
            <a:avLst/>
          </a:prstGeom>
        </p:spPr>
      </p:pic>
      <p:pic>
        <p:nvPicPr>
          <p:cNvPr id="6" name="图片 5">
            <a:extLst>
              <a:ext uri="{FF2B5EF4-FFF2-40B4-BE49-F238E27FC236}">
                <a16:creationId xmlns:a16="http://schemas.microsoft.com/office/drawing/2014/main" id="{D1D2ECEE-303B-A1FA-854A-6DD3AD1E6737}"/>
              </a:ext>
            </a:extLst>
          </p:cNvPr>
          <p:cNvPicPr>
            <a:picLocks noChangeAspect="1"/>
          </p:cNvPicPr>
          <p:nvPr/>
        </p:nvPicPr>
        <p:blipFill>
          <a:blip r:embed="rId5"/>
          <a:stretch>
            <a:fillRect/>
          </a:stretch>
        </p:blipFill>
        <p:spPr>
          <a:xfrm>
            <a:off x="1091134" y="4873722"/>
            <a:ext cx="2500630" cy="441752"/>
          </a:xfrm>
          <a:prstGeom prst="rect">
            <a:avLst/>
          </a:prstGeom>
        </p:spPr>
      </p:pic>
      <p:pic>
        <p:nvPicPr>
          <p:cNvPr id="7" name="图片 6">
            <a:extLst>
              <a:ext uri="{FF2B5EF4-FFF2-40B4-BE49-F238E27FC236}">
                <a16:creationId xmlns:a16="http://schemas.microsoft.com/office/drawing/2014/main" id="{369BF737-B589-650F-A038-827D8FA3F3C0}"/>
              </a:ext>
            </a:extLst>
          </p:cNvPr>
          <p:cNvPicPr>
            <a:picLocks noChangeAspect="1"/>
          </p:cNvPicPr>
          <p:nvPr/>
        </p:nvPicPr>
        <p:blipFill>
          <a:blip r:embed="rId6"/>
          <a:stretch>
            <a:fillRect/>
          </a:stretch>
        </p:blipFill>
        <p:spPr>
          <a:xfrm>
            <a:off x="3857687" y="4873722"/>
            <a:ext cx="2770285" cy="423341"/>
          </a:xfrm>
          <a:prstGeom prst="rect">
            <a:avLst/>
          </a:prstGeom>
        </p:spPr>
      </p:pic>
      <p:pic>
        <p:nvPicPr>
          <p:cNvPr id="8" name="图片 7">
            <a:extLst>
              <a:ext uri="{FF2B5EF4-FFF2-40B4-BE49-F238E27FC236}">
                <a16:creationId xmlns:a16="http://schemas.microsoft.com/office/drawing/2014/main" id="{7B98FA95-D0A2-B18D-E1B3-0DF0ACF42435}"/>
              </a:ext>
            </a:extLst>
          </p:cNvPr>
          <p:cNvPicPr>
            <a:picLocks noChangeAspect="1"/>
          </p:cNvPicPr>
          <p:nvPr/>
        </p:nvPicPr>
        <p:blipFill>
          <a:blip r:embed="rId7"/>
          <a:stretch>
            <a:fillRect/>
          </a:stretch>
        </p:blipFill>
        <p:spPr>
          <a:xfrm>
            <a:off x="1091134" y="5256154"/>
            <a:ext cx="4151696" cy="895670"/>
          </a:xfrm>
          <a:prstGeom prst="rect">
            <a:avLst/>
          </a:prstGeom>
        </p:spPr>
      </p:pic>
      <p:sp>
        <p:nvSpPr>
          <p:cNvPr id="10" name="文本框 9">
            <a:extLst>
              <a:ext uri="{FF2B5EF4-FFF2-40B4-BE49-F238E27FC236}">
                <a16:creationId xmlns:a16="http://schemas.microsoft.com/office/drawing/2014/main" id="{41168906-24C9-B162-8928-53DF23230F0A}"/>
              </a:ext>
            </a:extLst>
          </p:cNvPr>
          <p:cNvSpPr txBox="1"/>
          <p:nvPr/>
        </p:nvSpPr>
        <p:spPr>
          <a:xfrm>
            <a:off x="5350459" y="5465491"/>
            <a:ext cx="6209730" cy="400110"/>
          </a:xfrm>
          <a:prstGeom prst="rect">
            <a:avLst/>
          </a:prstGeom>
          <a:noFill/>
        </p:spPr>
        <p:txBody>
          <a:bodyPr wrap="square">
            <a:spAutoFit/>
          </a:bodyPr>
          <a:lstStyle/>
          <a:p>
            <a:r>
              <a:rPr kumimoji="1" lang="en-US" altLang="zh-CN" sz="2000" dirty="0">
                <a:latin typeface="Helvetica" pitchFamily="2" charset="0"/>
              </a:rPr>
              <a:t>(autoregressive next-item generation)</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Methodology</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Meta-Learning Strategy</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10/20</a:t>
            </a:r>
          </a:p>
        </p:txBody>
      </p:sp>
      <p:sp>
        <p:nvSpPr>
          <p:cNvPr id="4" name="正文"/>
          <p:cNvSpPr txBox="1"/>
          <p:nvPr/>
        </p:nvSpPr>
        <p:spPr>
          <a:xfrm>
            <a:off x="631811" y="1800107"/>
            <a:ext cx="11000000" cy="2817694"/>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Nested optimization is hard to solve directly → adopt a </a:t>
            </a:r>
            <a:r>
              <a:rPr kumimoji="1" lang="en-US" altLang="zh-CN" sz="2000" b="1" dirty="0">
                <a:solidFill>
                  <a:srgbClr val="002060"/>
                </a:solidFill>
                <a:latin typeface="Helvetica" pitchFamily="2" charset="0"/>
              </a:rPr>
              <a:t>MAML-style meta-learning</a:t>
            </a:r>
            <a:r>
              <a:rPr kumimoji="1" lang="en-US" altLang="zh-CN" sz="2000" dirty="0">
                <a:latin typeface="Helvetica" pitchFamily="2" charset="0"/>
              </a:rPr>
              <a:t> strategy</a:t>
            </a:r>
          </a:p>
          <a:p>
            <a:pPr marL="457200" indent="-457200">
              <a:lnSpc>
                <a:spcPct val="150000"/>
              </a:lnSpc>
              <a:buFont typeface="Wingdings" pitchFamily="2" charset="2"/>
              <a:buChar char="p"/>
            </a:pPr>
            <a:r>
              <a:rPr kumimoji="1" lang="en-US" altLang="zh-CN" sz="2000" b="1" dirty="0">
                <a:latin typeface="Helvetica" pitchFamily="2" charset="0"/>
              </a:rPr>
              <a:t>Inner update (recommender):</a:t>
            </a:r>
          </a:p>
          <a:p>
            <a:pPr marL="457200" indent="-457200">
              <a:lnSpc>
                <a:spcPct val="150000"/>
              </a:lnSpc>
              <a:buFont typeface="Wingdings" pitchFamily="2" charset="2"/>
              <a:buChar char="p"/>
            </a:pPr>
            <a:endParaRPr kumimoji="1" lang="en-US" altLang="zh-CN" sz="2000" b="1" dirty="0">
              <a:latin typeface="Helvetica" pitchFamily="2" charset="0"/>
            </a:endParaRPr>
          </a:p>
          <a:p>
            <a:pPr marL="457200" indent="-457200">
              <a:lnSpc>
                <a:spcPct val="150000"/>
              </a:lnSpc>
              <a:buFont typeface="Wingdings" pitchFamily="2" charset="2"/>
              <a:buChar char="p"/>
            </a:pPr>
            <a:r>
              <a:rPr kumimoji="1" lang="en-US" altLang="zh-CN" sz="2000" b="1" dirty="0">
                <a:latin typeface="Helvetica" pitchFamily="2" charset="0"/>
              </a:rPr>
              <a:t>Meta-train — tentative recommender update (tokenizer fixed):</a:t>
            </a:r>
          </a:p>
          <a:p>
            <a:pPr marL="457200" indent="-457200">
              <a:lnSpc>
                <a:spcPct val="150000"/>
              </a:lnSpc>
              <a:buFont typeface="Wingdings" pitchFamily="2" charset="2"/>
              <a:buChar char="p"/>
            </a:pPr>
            <a:endParaRPr kumimoji="1" lang="en-US" altLang="zh-CN" sz="2000" b="1" dirty="0">
              <a:latin typeface="Helvetica" pitchFamily="2" charset="0"/>
            </a:endParaRPr>
          </a:p>
          <a:p>
            <a:pPr marL="457200" indent="-457200">
              <a:lnSpc>
                <a:spcPct val="150000"/>
              </a:lnSpc>
              <a:buFont typeface="Wingdings" pitchFamily="2" charset="2"/>
              <a:buChar char="p"/>
            </a:pPr>
            <a:r>
              <a:rPr kumimoji="1" lang="en-US" altLang="zh-CN" sz="2000" b="1" dirty="0">
                <a:solidFill>
                  <a:srgbClr val="C00000"/>
                </a:solidFill>
                <a:latin typeface="Helvetica" pitchFamily="2" charset="0"/>
              </a:rPr>
              <a:t>Meta-test — update tokenizer with the tentative recommender:</a:t>
            </a:r>
          </a:p>
        </p:txBody>
      </p:sp>
      <p:pic>
        <p:nvPicPr>
          <p:cNvPr id="5" name="图片 4">
            <a:extLst>
              <a:ext uri="{FF2B5EF4-FFF2-40B4-BE49-F238E27FC236}">
                <a16:creationId xmlns:a16="http://schemas.microsoft.com/office/drawing/2014/main" id="{ED2BC3E2-8579-197F-9B7C-4E0403F44CAD}"/>
              </a:ext>
            </a:extLst>
          </p:cNvPr>
          <p:cNvPicPr>
            <a:picLocks noChangeAspect="1"/>
          </p:cNvPicPr>
          <p:nvPr/>
        </p:nvPicPr>
        <p:blipFill>
          <a:blip r:embed="rId3"/>
          <a:stretch>
            <a:fillRect/>
          </a:stretch>
        </p:blipFill>
        <p:spPr>
          <a:xfrm>
            <a:off x="1140114" y="2758345"/>
            <a:ext cx="3289300" cy="546100"/>
          </a:xfrm>
          <a:prstGeom prst="rect">
            <a:avLst/>
          </a:prstGeom>
        </p:spPr>
      </p:pic>
      <p:pic>
        <p:nvPicPr>
          <p:cNvPr id="6" name="图片 5">
            <a:extLst>
              <a:ext uri="{FF2B5EF4-FFF2-40B4-BE49-F238E27FC236}">
                <a16:creationId xmlns:a16="http://schemas.microsoft.com/office/drawing/2014/main" id="{9C4AF292-D3BA-286C-1B14-90D6A68408CF}"/>
              </a:ext>
            </a:extLst>
          </p:cNvPr>
          <p:cNvPicPr>
            <a:picLocks noChangeAspect="1"/>
          </p:cNvPicPr>
          <p:nvPr/>
        </p:nvPicPr>
        <p:blipFill>
          <a:blip r:embed="rId4"/>
          <a:stretch>
            <a:fillRect/>
          </a:stretch>
        </p:blipFill>
        <p:spPr>
          <a:xfrm>
            <a:off x="1140114" y="3669845"/>
            <a:ext cx="3289300" cy="442168"/>
          </a:xfrm>
          <a:prstGeom prst="rect">
            <a:avLst/>
          </a:prstGeom>
        </p:spPr>
      </p:pic>
      <p:pic>
        <p:nvPicPr>
          <p:cNvPr id="7" name="图片 6">
            <a:extLst>
              <a:ext uri="{FF2B5EF4-FFF2-40B4-BE49-F238E27FC236}">
                <a16:creationId xmlns:a16="http://schemas.microsoft.com/office/drawing/2014/main" id="{D6FF7FF2-EBEA-6A15-BD90-E063AD86AE1B}"/>
              </a:ext>
            </a:extLst>
          </p:cNvPr>
          <p:cNvPicPr>
            <a:picLocks noChangeAspect="1"/>
          </p:cNvPicPr>
          <p:nvPr/>
        </p:nvPicPr>
        <p:blipFill>
          <a:blip r:embed="rId5"/>
          <a:stretch>
            <a:fillRect/>
          </a:stretch>
        </p:blipFill>
        <p:spPr>
          <a:xfrm>
            <a:off x="1140114" y="4641565"/>
            <a:ext cx="5440795" cy="458260"/>
          </a:xfrm>
          <a:prstGeom prst="rect">
            <a:avLst/>
          </a:prstGeom>
        </p:spPr>
      </p:pic>
      <p:pic>
        <p:nvPicPr>
          <p:cNvPr id="8" name="图片 7">
            <a:extLst>
              <a:ext uri="{FF2B5EF4-FFF2-40B4-BE49-F238E27FC236}">
                <a16:creationId xmlns:a16="http://schemas.microsoft.com/office/drawing/2014/main" id="{7ED57251-4FBF-539C-B25B-BD51289364A2}"/>
              </a:ext>
            </a:extLst>
          </p:cNvPr>
          <p:cNvPicPr>
            <a:picLocks noChangeAspect="1"/>
          </p:cNvPicPr>
          <p:nvPr/>
        </p:nvPicPr>
        <p:blipFill>
          <a:blip r:embed="rId6"/>
          <a:stretch>
            <a:fillRect/>
          </a:stretch>
        </p:blipFill>
        <p:spPr>
          <a:xfrm>
            <a:off x="3569565" y="5162903"/>
            <a:ext cx="5440795" cy="435264"/>
          </a:xfrm>
          <a:prstGeom prst="rect">
            <a:avLst/>
          </a:prstGeom>
        </p:spPr>
      </p:pic>
      <p:sp>
        <p:nvSpPr>
          <p:cNvPr id="10" name="文本框 9">
            <a:extLst>
              <a:ext uri="{FF2B5EF4-FFF2-40B4-BE49-F238E27FC236}">
                <a16:creationId xmlns:a16="http://schemas.microsoft.com/office/drawing/2014/main" id="{08DF7C11-91E5-74D7-052E-C6241821376F}"/>
              </a:ext>
            </a:extLst>
          </p:cNvPr>
          <p:cNvSpPr txBox="1"/>
          <p:nvPr/>
        </p:nvSpPr>
        <p:spPr>
          <a:xfrm>
            <a:off x="1140114" y="5180480"/>
            <a:ext cx="2553278" cy="400110"/>
          </a:xfrm>
          <a:prstGeom prst="rect">
            <a:avLst/>
          </a:prstGeom>
          <a:noFill/>
        </p:spPr>
        <p:txBody>
          <a:bodyPr wrap="square">
            <a:spAutoFit/>
          </a:bodyPr>
          <a:lstStyle/>
          <a:p>
            <a:r>
              <a:rPr lang="en-US" altLang="zh-CN" sz="2000" dirty="0">
                <a:latin typeface="Helvetica" pitchFamily="2" charset="0"/>
              </a:rPr>
              <a:t>B</a:t>
            </a:r>
            <a:r>
              <a:rPr lang="zh-CN" altLang="zh-CN" sz="2000" dirty="0">
                <a:latin typeface="Helvetica" pitchFamily="2" charset="0"/>
              </a:rPr>
              <a:t>ack-propagation</a:t>
            </a:r>
            <a:r>
              <a:rPr lang="en-US" altLang="zh-CN" sz="2000" dirty="0">
                <a:latin typeface="Helvetica" pitchFamily="2" charset="0"/>
              </a:rPr>
              <a:t>:</a:t>
            </a:r>
            <a:endParaRPr lang="zh-CN" altLang="en-US" dirty="0">
              <a:latin typeface="Helvetica"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Methodology</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Gradient Surgery</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11/20</a:t>
            </a:r>
          </a:p>
        </p:txBody>
      </p:sp>
      <mc:AlternateContent xmlns:mc="http://schemas.openxmlformats.org/markup-compatibility/2006" xmlns:a14="http://schemas.microsoft.com/office/drawing/2010/main">
        <mc:Choice Requires="a14">
          <p:sp>
            <p:nvSpPr>
              <p:cNvPr id="4" name="正文"/>
              <p:cNvSpPr txBox="1"/>
              <p:nvPr/>
            </p:nvSpPr>
            <p:spPr>
              <a:xfrm>
                <a:off x="631811" y="1800107"/>
                <a:ext cx="10900000" cy="3320333"/>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Outer update mixes two gradients:  </a:t>
                </a:r>
                <a14:m>
                  <m:oMath xmlns:m="http://schemas.openxmlformats.org/officeDocument/2006/math">
                    <m:sSub>
                      <m:sSubPr>
                        <m:ctrlPr>
                          <a:rPr kumimoji="1" lang="en-US" altLang="zh-CN" sz="2000" i="1" dirty="0" smtClean="0">
                            <a:latin typeface="Cambria Math" panose="02040503050406030204" pitchFamily="18" charset="0"/>
                          </a:rPr>
                        </m:ctrlPr>
                      </m:sSubPr>
                      <m:e>
                        <m:r>
                          <a:rPr kumimoji="1" lang="en-US" altLang="zh-CN" sz="2000" i="1" dirty="0" smtClean="0">
                            <a:latin typeface="Cambria Math" panose="02040503050406030204" pitchFamily="18" charset="0"/>
                          </a:rPr>
                          <m:t>𝐺</m:t>
                        </m:r>
                      </m:e>
                      <m:sub>
                        <m:r>
                          <a:rPr kumimoji="1" lang="en-US" altLang="zh-CN" sz="2000" i="1" dirty="0" smtClean="0">
                            <a:latin typeface="Cambria Math" panose="02040503050406030204" pitchFamily="18" charset="0"/>
                          </a:rPr>
                          <m:t>𝑟𝑒𝑐</m:t>
                        </m:r>
                      </m:sub>
                    </m:sSub>
                    <m:r>
                      <a:rPr kumimoji="1" lang="en-US" altLang="zh-CN" sz="2000" i="1" dirty="0" smtClean="0">
                        <a:latin typeface="Cambria Math" panose="02040503050406030204" pitchFamily="18" charset="0"/>
                      </a:rPr>
                      <m:t> = </m:t>
                    </m:r>
                    <m:sSub>
                      <m:sSubPr>
                        <m:ctrlPr>
                          <a:rPr kumimoji="1" lang="en-US" altLang="zh-CN" sz="2000" b="0" i="1" dirty="0" smtClean="0">
                            <a:latin typeface="Cambria Math" panose="02040503050406030204" pitchFamily="18" charset="0"/>
                          </a:rPr>
                        </m:ctrlPr>
                      </m:sSubPr>
                      <m:e>
                        <m:r>
                          <m:rPr>
                            <m:sty m:val="p"/>
                          </m:rPr>
                          <a:rPr kumimoji="1" lang="en-US" altLang="zh-CN" sz="2000" i="0" dirty="0" smtClean="0">
                            <a:latin typeface="Cambria Math" panose="02040503050406030204" pitchFamily="18" charset="0"/>
                          </a:rPr>
                          <m:t>∇</m:t>
                        </m:r>
                      </m:e>
                      <m:sub>
                        <m:r>
                          <a:rPr kumimoji="1" lang="en-US" altLang="zh-CN" sz="2000" i="1" dirty="0" smtClean="0">
                            <a:latin typeface="Cambria Math" panose="02040503050406030204" pitchFamily="18" charset="0"/>
                          </a:rPr>
                          <m:t>𝜙</m:t>
                        </m:r>
                      </m:sub>
                    </m:sSub>
                    <m:r>
                      <a:rPr kumimoji="1" lang="en-US" altLang="zh-CN" sz="2000" i="1" dirty="0" smtClean="0">
                        <a:latin typeface="Cambria Math" panose="02040503050406030204" pitchFamily="18" charset="0"/>
                      </a:rPr>
                      <m:t> </m:t>
                    </m:r>
                    <m:sSub>
                      <m:sSubPr>
                        <m:ctrlPr>
                          <a:rPr kumimoji="1" lang="en-US" altLang="zh-CN" sz="2000" b="0" i="1" dirty="0" smtClean="0">
                            <a:latin typeface="Cambria Math" panose="02040503050406030204" pitchFamily="18" charset="0"/>
                          </a:rPr>
                        </m:ctrlPr>
                      </m:sSubPr>
                      <m:e>
                        <m:r>
                          <a:rPr kumimoji="1" lang="en-US" altLang="zh-CN" sz="2000" i="1" dirty="0" smtClean="0">
                            <a:latin typeface="Cambria Math" panose="02040503050406030204" pitchFamily="18" charset="0"/>
                          </a:rPr>
                          <m:t>ℒ</m:t>
                        </m:r>
                      </m:e>
                      <m:sub>
                        <m:r>
                          <a:rPr kumimoji="1" lang="en-US" altLang="zh-CN" sz="2000" i="1" dirty="0" smtClean="0">
                            <a:latin typeface="Cambria Math" panose="02040503050406030204" pitchFamily="18" charset="0"/>
                          </a:rPr>
                          <m:t>𝑟𝑒𝑐</m:t>
                        </m:r>
                      </m:sub>
                    </m:sSub>
                  </m:oMath>
                </a14:m>
                <a:r>
                  <a:rPr kumimoji="1" lang="en-US" altLang="zh-CN" sz="2000" dirty="0">
                    <a:latin typeface="Helvetica" pitchFamily="2" charset="0"/>
                  </a:rPr>
                  <a:t>  and  </a:t>
                </a:r>
                <a14:m>
                  <m:oMath xmlns:m="http://schemas.openxmlformats.org/officeDocument/2006/math">
                    <m:sSub>
                      <m:sSubPr>
                        <m:ctrlPr>
                          <a:rPr kumimoji="1" lang="en-US" altLang="zh-CN" sz="2000" i="1" dirty="0" smtClean="0">
                            <a:latin typeface="Cambria Math" panose="02040503050406030204" pitchFamily="18" charset="0"/>
                          </a:rPr>
                        </m:ctrlPr>
                      </m:sSubPr>
                      <m:e>
                        <m:r>
                          <a:rPr kumimoji="1" lang="en-US" altLang="zh-CN" sz="2000" i="1" dirty="0" smtClean="0">
                            <a:latin typeface="Cambria Math" panose="02040503050406030204" pitchFamily="18" charset="0"/>
                          </a:rPr>
                          <m:t>𝐺</m:t>
                        </m:r>
                      </m:e>
                      <m:sub>
                        <m:r>
                          <a:rPr kumimoji="1" lang="en-US" altLang="zh-CN" sz="2000" i="1" dirty="0" smtClean="0">
                            <a:latin typeface="Cambria Math" panose="02040503050406030204" pitchFamily="18" charset="0"/>
                          </a:rPr>
                          <m:t>𝑡𝑜𝑘𝑒𝑛</m:t>
                        </m:r>
                      </m:sub>
                    </m:sSub>
                    <m:r>
                      <a:rPr kumimoji="1" lang="en-US" altLang="zh-CN" sz="2000" i="1" dirty="0" smtClean="0">
                        <a:latin typeface="Cambria Math" panose="02040503050406030204" pitchFamily="18" charset="0"/>
                      </a:rPr>
                      <m:t> = </m:t>
                    </m:r>
                    <m:sSub>
                      <m:sSubPr>
                        <m:ctrlPr>
                          <a:rPr kumimoji="1" lang="en-US" altLang="zh-CN" sz="2000" b="0" i="1" dirty="0" smtClean="0">
                            <a:latin typeface="Cambria Math" panose="02040503050406030204" pitchFamily="18" charset="0"/>
                          </a:rPr>
                        </m:ctrlPr>
                      </m:sSubPr>
                      <m:e>
                        <m:r>
                          <m:rPr>
                            <m:sty m:val="p"/>
                          </m:rPr>
                          <a:rPr kumimoji="1" lang="en-US" altLang="zh-CN" sz="2000" i="0" dirty="0" smtClean="0">
                            <a:latin typeface="Cambria Math" panose="02040503050406030204" pitchFamily="18" charset="0"/>
                          </a:rPr>
                          <m:t>∇</m:t>
                        </m:r>
                      </m:e>
                      <m:sub>
                        <m:r>
                          <a:rPr kumimoji="1" lang="en-US" altLang="zh-CN" sz="2000" i="1" dirty="0" smtClean="0">
                            <a:latin typeface="Cambria Math" panose="02040503050406030204" pitchFamily="18" charset="0"/>
                          </a:rPr>
                          <m:t>𝜙</m:t>
                        </m:r>
                      </m:sub>
                    </m:sSub>
                    <m:r>
                      <a:rPr kumimoji="1" lang="en-US" altLang="zh-CN" sz="2000" i="1" dirty="0" smtClean="0">
                        <a:latin typeface="Cambria Math" panose="02040503050406030204" pitchFamily="18" charset="0"/>
                      </a:rPr>
                      <m:t> </m:t>
                    </m:r>
                    <m:sSub>
                      <m:sSubPr>
                        <m:ctrlPr>
                          <a:rPr kumimoji="1" lang="en-US" altLang="zh-CN" sz="2000" b="0" i="1" dirty="0" smtClean="0">
                            <a:latin typeface="Cambria Math" panose="02040503050406030204" pitchFamily="18" charset="0"/>
                          </a:rPr>
                        </m:ctrlPr>
                      </m:sSubPr>
                      <m:e>
                        <m:r>
                          <a:rPr kumimoji="1" lang="en-US" altLang="zh-CN" sz="2000" i="1" dirty="0" smtClean="0">
                            <a:latin typeface="Cambria Math" panose="02040503050406030204" pitchFamily="18" charset="0"/>
                          </a:rPr>
                          <m:t>ℒ</m:t>
                        </m:r>
                      </m:e>
                      <m:sub>
                        <m:r>
                          <a:rPr kumimoji="1" lang="en-US" altLang="zh-CN" sz="2000" i="1" dirty="0" smtClean="0">
                            <a:latin typeface="Cambria Math" panose="02040503050406030204" pitchFamily="18" charset="0"/>
                          </a:rPr>
                          <m:t>𝑡𝑜𝑘𝑒𝑛</m:t>
                        </m:r>
                      </m:sub>
                    </m:sSub>
                  </m:oMath>
                </a14:m>
                <a:endParaRPr kumimoji="1" lang="en-US" altLang="zh-CN" sz="2000" dirty="0">
                  <a:latin typeface="Helvetica" pitchFamily="2" charset="0"/>
                </a:endParaRPr>
              </a:p>
              <a:p>
                <a:pPr marL="457200" indent="-457200">
                  <a:lnSpc>
                    <a:spcPct val="150000"/>
                  </a:lnSpc>
                  <a:buFont typeface="Wingdings" pitchFamily="2" charset="2"/>
                  <a:buChar char="p"/>
                </a:pPr>
                <a:r>
                  <a:rPr kumimoji="1" lang="en-US" altLang="zh-CN" sz="2000" b="1" dirty="0">
                    <a:solidFill>
                      <a:srgbClr val="C00000"/>
                    </a:solidFill>
                    <a:latin typeface="Helvetica" pitchFamily="2" charset="0"/>
                  </a:rPr>
                  <a:t>Observation: gradient conflict</a:t>
                </a:r>
                <a:r>
                  <a:rPr kumimoji="1" lang="en-US" altLang="zh-CN" sz="2000" dirty="0">
                    <a:latin typeface="Helvetica" pitchFamily="2" charset="0"/>
                  </a:rPr>
                  <a:t> (negative cosine) affects up to </a:t>
                </a:r>
                <a:r>
                  <a:rPr kumimoji="1" lang="en-US" altLang="zh-CN" sz="2000" b="1" dirty="0">
                    <a:solidFill>
                      <a:srgbClr val="C00000"/>
                    </a:solidFill>
                    <a:latin typeface="Helvetica" pitchFamily="2" charset="0"/>
                  </a:rPr>
                  <a:t>90%</a:t>
                </a:r>
                <a:r>
                  <a:rPr kumimoji="1" lang="en-US" altLang="zh-CN" sz="2000" dirty="0">
                    <a:latin typeface="Helvetica" pitchFamily="2" charset="0"/>
                  </a:rPr>
                  <a:t> of parameter groups</a:t>
                </a:r>
              </a:p>
              <a:p>
                <a:pPr marL="457200" indent="-457200">
                  <a:lnSpc>
                    <a:spcPct val="150000"/>
                  </a:lnSpc>
                  <a:buFont typeface="Wingdings" pitchFamily="2" charset="2"/>
                  <a:buChar char="p"/>
                </a:pPr>
                <a:r>
                  <a:rPr kumimoji="1" lang="en-US" altLang="zh-CN" sz="2000" b="1" dirty="0">
                    <a:solidFill>
                      <a:srgbClr val="002060"/>
                    </a:solidFill>
                    <a:latin typeface="Helvetica" pitchFamily="2" charset="0"/>
                  </a:rPr>
                  <a:t>Gradient surgery</a:t>
                </a:r>
                <a:r>
                  <a:rPr kumimoji="1" lang="en-US" altLang="zh-CN" sz="2000" dirty="0">
                    <a:latin typeface="Helvetica" pitchFamily="2" charset="0"/>
                  </a:rPr>
                  <a:t> — when </a:t>
                </a:r>
                <a14:m>
                  <m:oMath xmlns:m="http://schemas.openxmlformats.org/officeDocument/2006/math">
                    <m:sSub>
                      <m:sSubPr>
                        <m:ctrlPr>
                          <a:rPr kumimoji="1" lang="en-US" altLang="zh-CN" sz="2000" i="1" dirty="0" smtClean="0">
                            <a:latin typeface="Cambria Math" panose="02040503050406030204" pitchFamily="18" charset="0"/>
                          </a:rPr>
                        </m:ctrlPr>
                      </m:sSubPr>
                      <m:e>
                        <m:r>
                          <a:rPr kumimoji="1" lang="en-US" altLang="zh-CN" sz="2000" i="1" dirty="0" smtClean="0">
                            <a:latin typeface="Cambria Math" panose="02040503050406030204" pitchFamily="18" charset="0"/>
                          </a:rPr>
                          <m:t>𝐺</m:t>
                        </m:r>
                      </m:e>
                      <m:sub>
                        <m:r>
                          <a:rPr kumimoji="1" lang="en-US" altLang="zh-CN" sz="2000" i="1" dirty="0" smtClean="0">
                            <a:latin typeface="Cambria Math" panose="02040503050406030204" pitchFamily="18" charset="0"/>
                          </a:rPr>
                          <m:t>𝑟𝑒𝑐</m:t>
                        </m:r>
                      </m:sub>
                    </m:sSub>
                    <m:r>
                      <a:rPr kumimoji="1" lang="en-US" altLang="zh-CN" sz="2000" i="1" dirty="0" smtClean="0">
                        <a:latin typeface="Cambria Math" panose="02040503050406030204" pitchFamily="18" charset="0"/>
                      </a:rPr>
                      <m:t> · </m:t>
                    </m:r>
                    <m:sSub>
                      <m:sSubPr>
                        <m:ctrlPr>
                          <a:rPr kumimoji="1" lang="en-US" altLang="zh-CN" sz="2000" i="1" dirty="0" smtClean="0">
                            <a:latin typeface="Cambria Math" panose="02040503050406030204" pitchFamily="18" charset="0"/>
                          </a:rPr>
                        </m:ctrlPr>
                      </m:sSubPr>
                      <m:e>
                        <m:r>
                          <a:rPr kumimoji="1" lang="en-US" altLang="zh-CN" sz="2000" i="1" dirty="0" smtClean="0">
                            <a:latin typeface="Cambria Math" panose="02040503050406030204" pitchFamily="18" charset="0"/>
                          </a:rPr>
                          <m:t>𝐺</m:t>
                        </m:r>
                      </m:e>
                      <m:sub>
                        <m:r>
                          <a:rPr kumimoji="1" lang="en-US" altLang="zh-CN" sz="2000" i="1" dirty="0" smtClean="0">
                            <a:latin typeface="Cambria Math" panose="02040503050406030204" pitchFamily="18" charset="0"/>
                          </a:rPr>
                          <m:t>𝑡𝑜𝑘𝑒𝑛</m:t>
                        </m:r>
                      </m:sub>
                    </m:sSub>
                    <m:r>
                      <a:rPr kumimoji="1" lang="en-US" altLang="zh-CN" sz="2000" i="1" dirty="0" smtClean="0">
                        <a:latin typeface="Cambria Math" panose="02040503050406030204" pitchFamily="18" charset="0"/>
                      </a:rPr>
                      <m:t> &lt; 0</m:t>
                    </m:r>
                  </m:oMath>
                </a14:m>
                <a:r>
                  <a:rPr kumimoji="1" lang="en-US" altLang="zh-CN" sz="2000" dirty="0">
                    <a:latin typeface="Helvetica" pitchFamily="2" charset="0"/>
                  </a:rPr>
                  <a:t>, project out the conflicting component:</a:t>
                </a:r>
              </a:p>
              <a:p>
                <a:pPr marL="914400" lvl="1" indent="-457200">
                  <a:lnSpc>
                    <a:spcPct val="150000"/>
                  </a:lnSpc>
                  <a:buFont typeface="Wingdings" pitchFamily="2" charset="2"/>
                  <a:buChar char="p"/>
                </a:pPr>
                <a:endParaRPr kumimoji="1" lang="en-US" altLang="zh-CN" sz="2000" dirty="0">
                  <a:latin typeface="Helvetica" pitchFamily="2" charset="0"/>
                </a:endParaRPr>
              </a:p>
              <a:p>
                <a:pPr marL="914400" lvl="1" indent="-457200">
                  <a:lnSpc>
                    <a:spcPct val="150000"/>
                  </a:lnSpc>
                  <a:buFont typeface="Wingdings" pitchFamily="2" charset="2"/>
                  <a:buChar char="p"/>
                </a:pPr>
                <a:endParaRPr kumimoji="1" lang="en-US" altLang="zh-CN" sz="2000" dirty="0">
                  <a:latin typeface="Helvetica" pitchFamily="2" charset="0"/>
                </a:endParaRPr>
              </a:p>
              <a:p>
                <a:pPr marL="914400" lvl="1" indent="-457200">
                  <a:lnSpc>
                    <a:spcPct val="150000"/>
                  </a:lnSpc>
                  <a:buFont typeface="Wingdings" pitchFamily="2" charset="2"/>
                  <a:buChar char="p"/>
                </a:pPr>
                <a:r>
                  <a:rPr kumimoji="1" lang="en-US" altLang="zh-CN" sz="2000" dirty="0">
                    <a:latin typeface="Helvetica" pitchFamily="2" charset="0"/>
                  </a:rPr>
                  <a:t>After projection </a:t>
                </a:r>
                <a14:m>
                  <m:oMath xmlns:m="http://schemas.openxmlformats.org/officeDocument/2006/math">
                    <m:sSub>
                      <m:sSubPr>
                        <m:ctrlPr>
                          <a:rPr kumimoji="1" lang="en-US" altLang="zh-CN" sz="2000" i="1" dirty="0">
                            <a:latin typeface="Cambria Math" panose="02040503050406030204" pitchFamily="18" charset="0"/>
                          </a:rPr>
                        </m:ctrlPr>
                      </m:sSubPr>
                      <m:e>
                        <m:r>
                          <a:rPr kumimoji="1" lang="en-US" altLang="zh-CN" sz="2000" i="1" dirty="0">
                            <a:latin typeface="Cambria Math" panose="02040503050406030204" pitchFamily="18" charset="0"/>
                          </a:rPr>
                          <m:t>𝐺</m:t>
                        </m:r>
                      </m:e>
                      <m:sub>
                        <m:r>
                          <a:rPr kumimoji="1" lang="en-US" altLang="zh-CN" sz="2000" i="1" dirty="0">
                            <a:latin typeface="Cambria Math" panose="02040503050406030204" pitchFamily="18" charset="0"/>
                          </a:rPr>
                          <m:t>𝑟𝑒𝑐</m:t>
                        </m:r>
                      </m:sub>
                    </m:sSub>
                    <m:r>
                      <a:rPr kumimoji="1" lang="en-US" altLang="zh-CN" sz="2000" i="1" dirty="0">
                        <a:latin typeface="Cambria Math" panose="02040503050406030204" pitchFamily="18" charset="0"/>
                      </a:rPr>
                      <m:t> · </m:t>
                    </m:r>
                    <m:sSub>
                      <m:sSubPr>
                        <m:ctrlPr>
                          <a:rPr kumimoji="1" lang="en-US" altLang="zh-CN" sz="2000" i="1" dirty="0">
                            <a:latin typeface="Cambria Math" panose="02040503050406030204" pitchFamily="18" charset="0"/>
                          </a:rPr>
                        </m:ctrlPr>
                      </m:sSubPr>
                      <m:e>
                        <m:r>
                          <a:rPr kumimoji="1" lang="en-US" altLang="zh-CN" sz="2000" i="1" dirty="0">
                            <a:latin typeface="Cambria Math" panose="02040503050406030204" pitchFamily="18" charset="0"/>
                          </a:rPr>
                          <m:t>𝐺</m:t>
                        </m:r>
                      </m:e>
                      <m:sub>
                        <m:r>
                          <a:rPr kumimoji="1" lang="en-US" altLang="zh-CN" sz="2000" i="1" dirty="0">
                            <a:latin typeface="Cambria Math" panose="02040503050406030204" pitchFamily="18" charset="0"/>
                          </a:rPr>
                          <m:t>𝑡𝑜𝑘𝑒𝑛</m:t>
                        </m:r>
                      </m:sub>
                    </m:sSub>
                    <m:r>
                      <a:rPr kumimoji="1" lang="en-US" altLang="zh-CN" sz="2000" b="0" i="1" dirty="0" smtClean="0">
                        <a:latin typeface="Cambria Math" panose="02040503050406030204" pitchFamily="18" charset="0"/>
                      </a:rPr>
                      <m:t>=</m:t>
                    </m:r>
                    <m:r>
                      <a:rPr kumimoji="1" lang="en-US" altLang="zh-CN" sz="2000" i="1" dirty="0">
                        <a:latin typeface="Cambria Math" panose="02040503050406030204" pitchFamily="18" charset="0"/>
                      </a:rPr>
                      <m:t> 0</m:t>
                    </m:r>
                  </m:oMath>
                </a14:m>
                <a:r>
                  <a:rPr kumimoji="1" lang="en-US" altLang="zh-CN" sz="2000" dirty="0">
                    <a:latin typeface="Helvetica" pitchFamily="2" charset="0"/>
                  </a:rPr>
                  <a:t>, — conflict removed, benefit retained</a:t>
                </a:r>
              </a:p>
              <a:p>
                <a:pPr marL="457200" indent="-457200">
                  <a:lnSpc>
                    <a:spcPct val="150000"/>
                  </a:lnSpc>
                  <a:buFont typeface="Wingdings" pitchFamily="2" charset="2"/>
                  <a:buChar char="p"/>
                </a:pPr>
                <a:r>
                  <a:rPr kumimoji="1" lang="en-US" altLang="zh-CN" sz="2000" dirty="0">
                    <a:latin typeface="Helvetica" pitchFamily="2" charset="0"/>
                  </a:rPr>
                  <a:t>Applied </a:t>
                </a:r>
                <a:r>
                  <a:rPr kumimoji="1" lang="en-US" altLang="zh-CN" sz="2000" b="1" dirty="0">
                    <a:solidFill>
                      <a:srgbClr val="002060"/>
                    </a:solidFill>
                    <a:latin typeface="Helvetica" pitchFamily="2" charset="0"/>
                  </a:rPr>
                  <a:t>per named parameter group</a:t>
                </a:r>
                <a:r>
                  <a:rPr kumimoji="1" lang="en-US" altLang="zh-CN" sz="2000" dirty="0">
                    <a:latin typeface="Helvetica" pitchFamily="2" charset="0"/>
                  </a:rPr>
                  <a:t> for finer-grained conflict mitigation</a:t>
                </a:r>
              </a:p>
            </p:txBody>
          </p:sp>
        </mc:Choice>
        <mc:Fallback xmlns="">
          <p:sp>
            <p:nvSpPr>
              <p:cNvPr id="4" name="正文"/>
              <p:cNvSpPr txBox="1">
                <a:spLocks noRot="1" noChangeAspect="1" noMove="1" noResize="1" noEditPoints="1" noAdjustHandles="1" noChangeArrowheads="1" noChangeShapeType="1" noTextEdit="1"/>
              </p:cNvSpPr>
              <p:nvPr/>
            </p:nvSpPr>
            <p:spPr>
              <a:xfrm>
                <a:off x="631811" y="1800107"/>
                <a:ext cx="10900000" cy="3320333"/>
              </a:xfrm>
              <a:prstGeom prst="rect">
                <a:avLst/>
              </a:prstGeom>
              <a:blipFill>
                <a:blip r:embed="rId3"/>
                <a:stretch>
                  <a:fillRect l="-465" b="-228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00F7D9D4-D425-3EEA-EACB-6E805CFC097E}"/>
              </a:ext>
            </a:extLst>
          </p:cNvPr>
          <p:cNvPicPr>
            <a:picLocks noChangeAspect="1"/>
          </p:cNvPicPr>
          <p:nvPr/>
        </p:nvPicPr>
        <p:blipFill>
          <a:blip r:embed="rId4"/>
          <a:stretch>
            <a:fillRect/>
          </a:stretch>
        </p:blipFill>
        <p:spPr>
          <a:xfrm>
            <a:off x="4037111" y="3394364"/>
            <a:ext cx="4089400" cy="774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Methodology</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Training Algorithm &amp; Complexity</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12/20</a:t>
            </a:r>
          </a:p>
        </p:txBody>
      </p:sp>
      <mc:AlternateContent xmlns:mc="http://schemas.openxmlformats.org/markup-compatibility/2006" xmlns:a14="http://schemas.microsoft.com/office/drawing/2010/main">
        <mc:Choice Requires="a14">
          <p:sp>
            <p:nvSpPr>
              <p:cNvPr id="4" name="正文"/>
              <p:cNvSpPr txBox="1"/>
              <p:nvPr/>
            </p:nvSpPr>
            <p:spPr>
              <a:xfrm>
                <a:off x="631811" y="1800107"/>
                <a:ext cx="10900000" cy="3279359"/>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b="1" dirty="0">
                    <a:latin typeface="Helvetica" pitchFamily="2" charset="0"/>
                  </a:rPr>
                  <a:t>Training loop (Algorithm 1):</a:t>
                </a:r>
              </a:p>
              <a:p>
                <a:pPr marL="914400" lvl="1" indent="-457200">
                  <a:lnSpc>
                    <a:spcPct val="150000"/>
                  </a:lnSpc>
                  <a:buFont typeface="Wingdings" pitchFamily="2" charset="2"/>
                  <a:buChar char="p"/>
                </a:pPr>
                <a:r>
                  <a:rPr kumimoji="1" lang="en-US" altLang="zh-CN" sz="2000" dirty="0">
                    <a:latin typeface="Helvetica" pitchFamily="2" charset="0"/>
                  </a:rPr>
                  <a:t>Each step: update recommender </a:t>
                </a:r>
                <a14:m>
                  <m:oMath xmlns:m="http://schemas.openxmlformats.org/officeDocument/2006/math">
                    <m:r>
                      <a:rPr kumimoji="1" lang="en-US" altLang="zh-CN" sz="2000" i="1" dirty="0" smtClean="0">
                        <a:latin typeface="Cambria Math" panose="02040503050406030204" pitchFamily="18" charset="0"/>
                      </a:rPr>
                      <m:t>𝜃</m:t>
                    </m:r>
                  </m:oMath>
                </a14:m>
                <a:r>
                  <a:rPr kumimoji="1" lang="en-US" altLang="zh-CN" sz="2000" dirty="0">
                    <a:latin typeface="Helvetica" pitchFamily="2" charset="0"/>
                  </a:rPr>
                  <a:t> via Eq. (14)</a:t>
                </a:r>
              </a:p>
              <a:p>
                <a:pPr marL="914400" lvl="1" indent="-457200">
                  <a:lnSpc>
                    <a:spcPct val="150000"/>
                  </a:lnSpc>
                  <a:buFont typeface="Wingdings" pitchFamily="2" charset="2"/>
                  <a:buChar char="p"/>
                </a:pPr>
                <a:r>
                  <a:rPr kumimoji="1" lang="en-US" altLang="zh-CN" sz="2000" dirty="0">
                    <a:latin typeface="Helvetica" pitchFamily="2" charset="0"/>
                  </a:rPr>
                  <a:t>Every </a:t>
                </a:r>
                <a14:m>
                  <m:oMath xmlns:m="http://schemas.openxmlformats.org/officeDocument/2006/math">
                    <m:r>
                      <a:rPr kumimoji="1" lang="en-US" altLang="zh-CN" sz="2000" i="1" dirty="0" smtClean="0">
                        <a:latin typeface="Cambria Math" panose="02040503050406030204" pitchFamily="18" charset="0"/>
                      </a:rPr>
                      <m:t>𝑀</m:t>
                    </m:r>
                  </m:oMath>
                </a14:m>
                <a:r>
                  <a:rPr kumimoji="1" lang="en-US" altLang="zh-CN" sz="2000" dirty="0">
                    <a:latin typeface="Helvetica" pitchFamily="2" charset="0"/>
                  </a:rPr>
                  <a:t> steps: tentative update </a:t>
                </a:r>
                <a14:m>
                  <m:oMath xmlns:m="http://schemas.openxmlformats.org/officeDocument/2006/math">
                    <m:r>
                      <a:rPr kumimoji="1" lang="en-US" altLang="zh-CN" sz="2000" i="1" dirty="0" smtClean="0">
                        <a:latin typeface="Cambria Math" panose="02040503050406030204" pitchFamily="18" charset="0"/>
                      </a:rPr>
                      <m:t>𝜃</m:t>
                    </m:r>
                    <m:r>
                      <a:rPr kumimoji="1" lang="en-US" altLang="zh-CN" sz="2000" i="1" dirty="0" smtClean="0">
                        <a:latin typeface="Cambria Math" panose="02040503050406030204" pitchFamily="18" charset="0"/>
                      </a:rPr>
                      <m:t>′, </m:t>
                    </m:r>
                  </m:oMath>
                </a14:m>
                <a:r>
                  <a:rPr kumimoji="1" lang="en-US" altLang="zh-CN" sz="2000" dirty="0">
                    <a:latin typeface="Helvetica" pitchFamily="2" charset="0"/>
                  </a:rPr>
                  <a:t>compute </a:t>
                </a:r>
                <a14:m>
                  <m:oMath xmlns:m="http://schemas.openxmlformats.org/officeDocument/2006/math">
                    <m:sSub>
                      <m:sSubPr>
                        <m:ctrlPr>
                          <a:rPr kumimoji="1" lang="en-US" altLang="zh-CN" sz="2000" i="1" dirty="0" smtClean="0">
                            <a:latin typeface="Cambria Math" panose="02040503050406030204" pitchFamily="18" charset="0"/>
                          </a:rPr>
                        </m:ctrlPr>
                      </m:sSubPr>
                      <m:e>
                        <m:r>
                          <a:rPr kumimoji="1" lang="en-US" altLang="zh-CN" sz="2000" i="1" dirty="0" smtClean="0">
                            <a:latin typeface="Cambria Math" panose="02040503050406030204" pitchFamily="18" charset="0"/>
                          </a:rPr>
                          <m:t>𝐺</m:t>
                        </m:r>
                      </m:e>
                      <m:sub>
                        <m:r>
                          <a:rPr kumimoji="1" lang="en-US" altLang="zh-CN" sz="2000" i="1" dirty="0" smtClean="0">
                            <a:latin typeface="Cambria Math" panose="02040503050406030204" pitchFamily="18" charset="0"/>
                          </a:rPr>
                          <m:t>𝑟𝑒𝑐</m:t>
                        </m:r>
                      </m:sub>
                    </m:sSub>
                    <m:r>
                      <a:rPr kumimoji="1" lang="en-US" altLang="zh-CN" sz="2000" i="1" dirty="0" smtClean="0">
                        <a:latin typeface="Cambria Math" panose="02040503050406030204" pitchFamily="18" charset="0"/>
                      </a:rPr>
                      <m:t> / </m:t>
                    </m:r>
                    <m:r>
                      <a:rPr kumimoji="1" lang="en-US" altLang="zh-CN" sz="2000" i="1" dirty="0" smtClean="0">
                        <a:latin typeface="Cambria Math" panose="02040503050406030204" pitchFamily="18" charset="0"/>
                      </a:rPr>
                      <m:t>𝐺</m:t>
                    </m:r>
                    <m:r>
                      <a:rPr kumimoji="1" lang="en-US" altLang="zh-CN" sz="2000" i="1" dirty="0" smtClean="0">
                        <a:latin typeface="Cambria Math" panose="02040503050406030204" pitchFamily="18" charset="0"/>
                      </a:rPr>
                      <m:t>_</m:t>
                    </m:r>
                    <m:r>
                      <a:rPr kumimoji="1" lang="en-US" altLang="zh-CN" sz="2000" i="1" dirty="0" smtClean="0">
                        <a:latin typeface="Cambria Math" panose="02040503050406030204" pitchFamily="18" charset="0"/>
                      </a:rPr>
                      <m:t>𝑡𝑜𝑘𝑒𝑛</m:t>
                    </m:r>
                  </m:oMath>
                </a14:m>
                <a:r>
                  <a:rPr kumimoji="1" lang="en-US" altLang="zh-CN" sz="2000" dirty="0">
                    <a:latin typeface="Helvetica" pitchFamily="2" charset="0"/>
                  </a:rPr>
                  <a:t>, apply surgery, update tokenizer </a:t>
                </a:r>
                <a14:m>
                  <m:oMath xmlns:m="http://schemas.openxmlformats.org/officeDocument/2006/math">
                    <m:r>
                      <a:rPr kumimoji="1" lang="en-US" altLang="zh-CN" sz="2000" i="1" dirty="0" smtClean="0">
                        <a:latin typeface="Cambria Math" panose="02040503050406030204" pitchFamily="18" charset="0"/>
                      </a:rPr>
                      <m:t>𝜙</m:t>
                    </m:r>
                  </m:oMath>
                </a14:m>
                <a:endParaRPr kumimoji="1" lang="en-US" altLang="zh-CN" sz="2000" dirty="0">
                  <a:latin typeface="Helvetica" pitchFamily="2" charset="0"/>
                </a:endParaRPr>
              </a:p>
              <a:p>
                <a:pPr marL="914400" lvl="1" indent="-457200">
                  <a:lnSpc>
                    <a:spcPct val="150000"/>
                  </a:lnSpc>
                  <a:buFont typeface="Wingdings" pitchFamily="2" charset="2"/>
                  <a:buChar char="p"/>
                </a:pPr>
                <a:r>
                  <a:rPr kumimoji="1" lang="en-US" altLang="zh-CN" sz="2000" dirty="0">
                    <a:latin typeface="Helvetica" pitchFamily="2" charset="0"/>
                  </a:rPr>
                  <a:t>Delaying </a:t>
                </a:r>
                <a14:m>
                  <m:oMath xmlns:m="http://schemas.openxmlformats.org/officeDocument/2006/math">
                    <m:r>
                      <a:rPr kumimoji="1" lang="en-US" altLang="zh-CN" sz="2000" i="1" dirty="0" smtClean="0">
                        <a:latin typeface="Cambria Math" panose="02040503050406030204" pitchFamily="18" charset="0"/>
                      </a:rPr>
                      <m:t>𝜙</m:t>
                    </m:r>
                  </m:oMath>
                </a14:m>
                <a:r>
                  <a:rPr kumimoji="1" lang="en-US" altLang="zh-CN" sz="2000" dirty="0">
                    <a:latin typeface="Helvetica" pitchFamily="2" charset="0"/>
                  </a:rPr>
                  <a:t> updates lets the recommender give stable gradients to the tokenizer</a:t>
                </a:r>
              </a:p>
              <a:p>
                <a:pPr marL="457200" indent="-457200">
                  <a:lnSpc>
                    <a:spcPct val="150000"/>
                  </a:lnSpc>
                  <a:buFont typeface="Wingdings" pitchFamily="2" charset="2"/>
                  <a:buChar char="p"/>
                </a:pPr>
                <a:r>
                  <a:rPr kumimoji="1" lang="en-US" altLang="zh-CN" sz="2000" b="1" dirty="0">
                    <a:solidFill>
                      <a:srgbClr val="002060"/>
                    </a:solidFill>
                    <a:latin typeface="Helvetica" pitchFamily="2" charset="0"/>
                  </a:rPr>
                  <a:t>Complexity:</a:t>
                </a:r>
                <a:r>
                  <a:rPr kumimoji="1" lang="en-US" altLang="zh-CN" sz="2000" dirty="0">
                    <a:latin typeface="Helvetica" pitchFamily="2" charset="0"/>
                  </a:rPr>
                  <a:t>  </a:t>
                </a:r>
                <a14:m>
                  <m:oMath xmlns:m="http://schemas.openxmlformats.org/officeDocument/2006/math">
                    <m:r>
                      <a:rPr kumimoji="1" lang="en-US" altLang="zh-CN" sz="2000" i="1" dirty="0" smtClean="0">
                        <a:latin typeface="Cambria Math" panose="02040503050406030204" pitchFamily="18" charset="0"/>
                      </a:rPr>
                      <m:t>𝑂</m:t>
                    </m:r>
                    <m:r>
                      <a:rPr kumimoji="1" lang="en-US" altLang="zh-CN" sz="2000" i="1" dirty="0" smtClean="0">
                        <a:latin typeface="Cambria Math" panose="02040503050406030204" pitchFamily="18" charset="0"/>
                      </a:rPr>
                      <m:t>( </m:t>
                    </m:r>
                    <m:r>
                      <a:rPr kumimoji="1" lang="en-US" altLang="zh-CN" sz="2000" i="1" dirty="0" smtClean="0">
                        <a:latin typeface="Cambria Math" panose="02040503050406030204" pitchFamily="18" charset="0"/>
                      </a:rPr>
                      <m:t>𝑇𝐿𝐾𝑑</m:t>
                    </m:r>
                    <m:r>
                      <a:rPr kumimoji="1" lang="en-US" altLang="zh-CN" sz="2000" i="1" dirty="0" smtClean="0">
                        <a:latin typeface="Cambria Math" panose="02040503050406030204" pitchFamily="18" charset="0"/>
                      </a:rPr>
                      <m:t> + </m:t>
                    </m:r>
                    <m:r>
                      <a:rPr kumimoji="1" lang="en-US" altLang="zh-CN" sz="2000" i="1" dirty="0" smtClean="0">
                        <a:latin typeface="Cambria Math" panose="02040503050406030204" pitchFamily="18" charset="0"/>
                      </a:rPr>
                      <m:t>𝑇</m:t>
                    </m:r>
                    <m:r>
                      <a:rPr kumimoji="1" lang="en-US" altLang="zh-CN" sz="2000" i="1" dirty="0" smtClean="0">
                        <a:latin typeface="Cambria Math" panose="02040503050406030204" pitchFamily="18" charset="0"/>
                      </a:rPr>
                      <m:t>²</m:t>
                    </m:r>
                    <m:r>
                      <a:rPr kumimoji="1" lang="en-US" altLang="zh-CN" sz="2000" i="1" dirty="0" smtClean="0">
                        <a:latin typeface="Cambria Math" panose="02040503050406030204" pitchFamily="18" charset="0"/>
                      </a:rPr>
                      <m:t>𝑑</m:t>
                    </m:r>
                    <m:r>
                      <a:rPr kumimoji="1" lang="en-US" altLang="zh-CN" sz="2000" i="1" dirty="0" smtClean="0">
                        <a:latin typeface="Cambria Math" panose="02040503050406030204" pitchFamily="18" charset="0"/>
                      </a:rPr>
                      <m:t> + </m:t>
                    </m:r>
                    <m:r>
                      <a:rPr kumimoji="1" lang="en-US" altLang="zh-CN" sz="2000" i="1" dirty="0" smtClean="0">
                        <a:latin typeface="Cambria Math" panose="02040503050406030204" pitchFamily="18" charset="0"/>
                      </a:rPr>
                      <m:t>𝑇𝑑</m:t>
                    </m:r>
                    <m:r>
                      <a:rPr kumimoji="1" lang="en-US" altLang="zh-CN" sz="2000" i="1" dirty="0" smtClean="0">
                        <a:latin typeface="Cambria Math" panose="02040503050406030204" pitchFamily="18" charset="0"/>
                      </a:rPr>
                      <m:t>² )  </m:t>
                    </m:r>
                  </m:oMath>
                </a14:m>
                <a:r>
                  <a:rPr kumimoji="1" lang="en-US" altLang="zh-CN" sz="2000" dirty="0">
                    <a:latin typeface="Helvetica" pitchFamily="2" charset="0"/>
                  </a:rPr>
                  <a:t>— same order as TIGER</a:t>
                </a:r>
              </a:p>
              <a:p>
                <a:pPr marL="914400" lvl="1" indent="-457200">
                  <a:lnSpc>
                    <a:spcPct val="150000"/>
                  </a:lnSpc>
                  <a:buFont typeface="Wingdings" pitchFamily="2" charset="2"/>
                  <a:buChar char="p"/>
                </a:pPr>
                <a:r>
                  <a:rPr kumimoji="1" lang="en-US" altLang="zh-CN" sz="2000" b="1" dirty="0">
                    <a:solidFill>
                      <a:srgbClr val="C00000"/>
                    </a:solidFill>
                    <a:latin typeface="Helvetica" pitchFamily="2" charset="0"/>
                  </a:rPr>
                  <a:t>Inference complexity is identical to TIGER</a:t>
                </a:r>
                <a:r>
                  <a:rPr kumimoji="1" lang="en-US" altLang="zh-CN" sz="2000" dirty="0">
                    <a:latin typeface="Helvetica" pitchFamily="2" charset="0"/>
                  </a:rPr>
                  <a:t> — no significant additional overhead</a:t>
                </a:r>
              </a:p>
            </p:txBody>
          </p:sp>
        </mc:Choice>
        <mc:Fallback xmlns="">
          <p:sp>
            <p:nvSpPr>
              <p:cNvPr id="4" name="正文"/>
              <p:cNvSpPr txBox="1">
                <a:spLocks noRot="1" noChangeAspect="1" noMove="1" noResize="1" noEditPoints="1" noAdjustHandles="1" noChangeArrowheads="1" noChangeShapeType="1" noTextEdit="1"/>
              </p:cNvSpPr>
              <p:nvPr/>
            </p:nvSpPr>
            <p:spPr>
              <a:xfrm>
                <a:off x="631811" y="1800107"/>
                <a:ext cx="10900000" cy="3279359"/>
              </a:xfrm>
              <a:prstGeom prst="rect">
                <a:avLst/>
              </a:prstGeom>
              <a:blipFill>
                <a:blip r:embed="rId3"/>
                <a:stretch>
                  <a:fillRect l="-465" b="-2703"/>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Experiment</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Setup: Datasets &amp; Metrics</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13/20</a:t>
            </a:r>
          </a:p>
        </p:txBody>
      </p:sp>
      <p:sp>
        <p:nvSpPr>
          <p:cNvPr id="4" name="正文"/>
          <p:cNvSpPr txBox="1"/>
          <p:nvPr/>
        </p:nvSpPr>
        <p:spPr>
          <a:xfrm>
            <a:off x="631811" y="1800107"/>
            <a:ext cx="10900000" cy="1893788"/>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Three Amazon Review subsets, 5-core filtering, leave-one-out split, max length 20</a:t>
            </a:r>
          </a:p>
          <a:p>
            <a:pPr marL="457200" indent="-457200">
              <a:lnSpc>
                <a:spcPct val="150000"/>
              </a:lnSpc>
              <a:buFont typeface="Wingdings" pitchFamily="2" charset="2"/>
              <a:buChar char="p"/>
            </a:pPr>
            <a:r>
              <a:rPr kumimoji="1" lang="en-US" altLang="zh-CN" sz="2000" dirty="0">
                <a:latin typeface="Helvetica" pitchFamily="2" charset="0"/>
              </a:rPr>
              <a:t>Metrics: Recall@K and NDCG@K (K = 5, 10), full ranking, constrained Trie decoding, beam search with 20</a:t>
            </a:r>
          </a:p>
          <a:p>
            <a:pPr marL="457200" indent="-457200">
              <a:lnSpc>
                <a:spcPct val="150000"/>
              </a:lnSpc>
              <a:buFont typeface="Wingdings" pitchFamily="2" charset="2"/>
              <a:buChar char="p"/>
            </a:pPr>
            <a:r>
              <a:rPr kumimoji="1" lang="en-US" altLang="zh-CN" sz="2000" dirty="0">
                <a:latin typeface="Helvetica" pitchFamily="2" charset="0"/>
              </a:rPr>
              <a:t>Recommender: T5, 4+4 layers, dim 128; RQ-VAE: 4 codebooks × 256 codes, dim 32</a:t>
            </a:r>
          </a:p>
        </p:txBody>
      </p:sp>
      <p:graphicFrame>
        <p:nvGraphicFramePr>
          <p:cNvPr id="20" name="表格 20"/>
          <p:cNvGraphicFramePr/>
          <p:nvPr/>
        </p:nvGraphicFramePr>
        <p:xfrm>
          <a:off x="846000" y="4050000"/>
          <a:ext cx="10500000" cy="1720000"/>
        </p:xfrm>
        <a:graphic>
          <a:graphicData uri="http://schemas.openxmlformats.org/drawingml/2006/table">
            <a:tbl>
              <a:tblPr firstRow="1" bandRow="1">
                <a:tableStyleId>{5C22544A-7EE6-4342-B048-85BDC9FD1C3A}</a:tableStyleId>
              </a:tblPr>
              <a:tblGrid>
                <a:gridCol w="2400000">
                  <a:extLst>
                    <a:ext uri="{9D8B030D-6E8A-4147-A177-3AD203B41FA5}">
                      <a16:colId xmlns:a16="http://schemas.microsoft.com/office/drawing/2014/main" val="20000"/>
                    </a:ext>
                  </a:extLst>
                </a:gridCol>
                <a:gridCol w="1550000">
                  <a:extLst>
                    <a:ext uri="{9D8B030D-6E8A-4147-A177-3AD203B41FA5}">
                      <a16:colId xmlns:a16="http://schemas.microsoft.com/office/drawing/2014/main" val="20001"/>
                    </a:ext>
                  </a:extLst>
                </a:gridCol>
                <a:gridCol w="1550000">
                  <a:extLst>
                    <a:ext uri="{9D8B030D-6E8A-4147-A177-3AD203B41FA5}">
                      <a16:colId xmlns:a16="http://schemas.microsoft.com/office/drawing/2014/main" val="20002"/>
                    </a:ext>
                  </a:extLst>
                </a:gridCol>
                <a:gridCol w="1900000">
                  <a:extLst>
                    <a:ext uri="{9D8B030D-6E8A-4147-A177-3AD203B41FA5}">
                      <a16:colId xmlns:a16="http://schemas.microsoft.com/office/drawing/2014/main" val="20003"/>
                    </a:ext>
                  </a:extLst>
                </a:gridCol>
                <a:gridCol w="1550000">
                  <a:extLst>
                    <a:ext uri="{9D8B030D-6E8A-4147-A177-3AD203B41FA5}">
                      <a16:colId xmlns:a16="http://schemas.microsoft.com/office/drawing/2014/main" val="20004"/>
                    </a:ext>
                  </a:extLst>
                </a:gridCol>
                <a:gridCol w="1550000">
                  <a:extLst>
                    <a:ext uri="{9D8B030D-6E8A-4147-A177-3AD203B41FA5}">
                      <a16:colId xmlns:a16="http://schemas.microsoft.com/office/drawing/2014/main" val="20005"/>
                    </a:ext>
                  </a:extLst>
                </a:gridCol>
              </a:tblGrid>
              <a:tr h="430000">
                <a:tc>
                  <a:txBody>
                    <a:bodyPr/>
                    <a:lstStyle/>
                    <a:p>
                      <a:pPr algn="ctr"/>
                      <a:r>
                        <a:rPr lang="en-US" altLang="zh-CN" sz="1200" b="1" dirty="0">
                          <a:solidFill>
                            <a:srgbClr val="FFFFFF"/>
                          </a:solidFill>
                          <a:latin typeface="Helvetica" pitchFamily="2" charset="0"/>
                        </a:rPr>
                        <a:t>Dataset</a:t>
                      </a:r>
                    </a:p>
                  </a:txBody>
                  <a:tcPr marL="27432" marR="27432" marT="9144" marB="9144" anchor="ctr">
                    <a:solidFill>
                      <a:srgbClr val="002060"/>
                    </a:solidFill>
                  </a:tcPr>
                </a:tc>
                <a:tc>
                  <a:txBody>
                    <a:bodyPr/>
                    <a:lstStyle/>
                    <a:p>
                      <a:pPr algn="ctr"/>
                      <a:r>
                        <a:rPr lang="en-US" altLang="zh-CN" sz="1200" b="1" dirty="0">
                          <a:solidFill>
                            <a:srgbClr val="FFFFFF"/>
                          </a:solidFill>
                          <a:latin typeface="Helvetica" pitchFamily="2" charset="0"/>
                        </a:rPr>
                        <a:t>#Users</a:t>
                      </a:r>
                    </a:p>
                  </a:txBody>
                  <a:tcPr marL="27432" marR="27432" marT="9144" marB="9144" anchor="ctr">
                    <a:solidFill>
                      <a:srgbClr val="002060"/>
                    </a:solidFill>
                  </a:tcPr>
                </a:tc>
                <a:tc>
                  <a:txBody>
                    <a:bodyPr/>
                    <a:lstStyle/>
                    <a:p>
                      <a:pPr algn="ctr"/>
                      <a:r>
                        <a:rPr lang="en-US" altLang="zh-CN" sz="1200" b="1" dirty="0">
                          <a:solidFill>
                            <a:srgbClr val="FFFFFF"/>
                          </a:solidFill>
                          <a:latin typeface="Helvetica" pitchFamily="2" charset="0"/>
                        </a:rPr>
                        <a:t>#Items</a:t>
                      </a:r>
                    </a:p>
                  </a:txBody>
                  <a:tcPr marL="27432" marR="27432" marT="9144" marB="9144" anchor="ctr">
                    <a:solidFill>
                      <a:srgbClr val="002060"/>
                    </a:solidFill>
                  </a:tcPr>
                </a:tc>
                <a:tc>
                  <a:txBody>
                    <a:bodyPr/>
                    <a:lstStyle/>
                    <a:p>
                      <a:pPr algn="ctr"/>
                      <a:r>
                        <a:rPr lang="en-US" altLang="zh-CN" sz="1200" b="1" dirty="0">
                          <a:solidFill>
                            <a:srgbClr val="FFFFFF"/>
                          </a:solidFill>
                          <a:latin typeface="Helvetica" pitchFamily="2" charset="0"/>
                        </a:rPr>
                        <a:t>#Interaction</a:t>
                      </a:r>
                    </a:p>
                  </a:txBody>
                  <a:tcPr marL="27432" marR="27432" marT="9144" marB="9144" anchor="ctr">
                    <a:solidFill>
                      <a:srgbClr val="002060"/>
                    </a:solidFill>
                  </a:tcPr>
                </a:tc>
                <a:tc>
                  <a:txBody>
                    <a:bodyPr/>
                    <a:lstStyle/>
                    <a:p>
                      <a:pPr algn="ctr"/>
                      <a:r>
                        <a:rPr lang="en-US" altLang="zh-CN" sz="1200" b="1" dirty="0">
                          <a:solidFill>
                            <a:srgbClr val="FFFFFF"/>
                          </a:solidFill>
                          <a:latin typeface="Helvetica" pitchFamily="2" charset="0"/>
                        </a:rPr>
                        <a:t>Sparsity</a:t>
                      </a:r>
                    </a:p>
                  </a:txBody>
                  <a:tcPr marL="27432" marR="27432" marT="9144" marB="9144" anchor="ctr">
                    <a:solidFill>
                      <a:srgbClr val="002060"/>
                    </a:solidFill>
                  </a:tcPr>
                </a:tc>
                <a:tc>
                  <a:txBody>
                    <a:bodyPr/>
                    <a:lstStyle/>
                    <a:p>
                      <a:pPr algn="ctr"/>
                      <a:r>
                        <a:rPr lang="en-US" altLang="zh-CN" sz="1200" b="1" dirty="0">
                          <a:solidFill>
                            <a:srgbClr val="FFFFFF"/>
                          </a:solidFill>
                          <a:latin typeface="Helvetica" pitchFamily="2" charset="0"/>
                        </a:rPr>
                        <a:t>AvgLen</a:t>
                      </a:r>
                    </a:p>
                  </a:txBody>
                  <a:tcPr marL="27432" marR="27432" marT="9144" marB="9144" anchor="ctr">
                    <a:solidFill>
                      <a:srgbClr val="002060"/>
                    </a:solidFill>
                  </a:tcPr>
                </a:tc>
                <a:extLst>
                  <a:ext uri="{0D108BD9-81ED-4DB2-BD59-A6C34878D82A}">
                    <a16:rowId xmlns:a16="http://schemas.microsoft.com/office/drawing/2014/main" val="10000"/>
                  </a:ext>
                </a:extLst>
              </a:tr>
              <a:tr h="430000">
                <a:tc>
                  <a:txBody>
                    <a:bodyPr/>
                    <a:lstStyle/>
                    <a:p>
                      <a:pPr algn="ctr"/>
                      <a:r>
                        <a:rPr lang="en-US" altLang="zh-CN" sz="1200" dirty="0">
                          <a:latin typeface="Helvetica" pitchFamily="2" charset="0"/>
                        </a:rPr>
                        <a:t>Beauty</a:t>
                      </a:r>
                    </a:p>
                  </a:txBody>
                  <a:tcPr marL="27432" marR="27432" marT="9144" marB="9144" anchor="ctr">
                    <a:noFill/>
                  </a:tcPr>
                </a:tc>
                <a:tc>
                  <a:txBody>
                    <a:bodyPr/>
                    <a:lstStyle/>
                    <a:p>
                      <a:pPr algn="ctr"/>
                      <a:r>
                        <a:rPr lang="en-US" altLang="zh-CN" sz="1200" dirty="0">
                          <a:latin typeface="Helvetica" pitchFamily="2" charset="0"/>
                        </a:rPr>
                        <a:t>22,363</a:t>
                      </a:r>
                    </a:p>
                  </a:txBody>
                  <a:tcPr marL="27432" marR="27432" marT="9144" marB="9144" anchor="ctr">
                    <a:noFill/>
                  </a:tcPr>
                </a:tc>
                <a:tc>
                  <a:txBody>
                    <a:bodyPr/>
                    <a:lstStyle/>
                    <a:p>
                      <a:pPr algn="ctr"/>
                      <a:r>
                        <a:rPr lang="en-US" altLang="zh-CN" sz="1200" dirty="0">
                          <a:latin typeface="Helvetica" pitchFamily="2" charset="0"/>
                        </a:rPr>
                        <a:t>12,101</a:t>
                      </a:r>
                    </a:p>
                  </a:txBody>
                  <a:tcPr marL="27432" marR="27432" marT="9144" marB="9144" anchor="ctr">
                    <a:noFill/>
                  </a:tcPr>
                </a:tc>
                <a:tc>
                  <a:txBody>
                    <a:bodyPr/>
                    <a:lstStyle/>
                    <a:p>
                      <a:pPr algn="ctr"/>
                      <a:r>
                        <a:rPr lang="en-US" altLang="zh-CN" sz="1200" dirty="0">
                          <a:latin typeface="Helvetica" pitchFamily="2" charset="0"/>
                        </a:rPr>
                        <a:t>198,502</a:t>
                      </a:r>
                    </a:p>
                  </a:txBody>
                  <a:tcPr marL="27432" marR="27432" marT="9144" marB="9144" anchor="ctr">
                    <a:noFill/>
                  </a:tcPr>
                </a:tc>
                <a:tc>
                  <a:txBody>
                    <a:bodyPr/>
                    <a:lstStyle/>
                    <a:p>
                      <a:pPr algn="ctr"/>
                      <a:r>
                        <a:rPr lang="en-US" altLang="zh-CN" sz="1200" dirty="0">
                          <a:latin typeface="Helvetica" pitchFamily="2" charset="0"/>
                        </a:rPr>
                        <a:t>99.93%</a:t>
                      </a:r>
                    </a:p>
                  </a:txBody>
                  <a:tcPr marL="27432" marR="27432" marT="9144" marB="9144" anchor="ctr">
                    <a:noFill/>
                  </a:tcPr>
                </a:tc>
                <a:tc>
                  <a:txBody>
                    <a:bodyPr/>
                    <a:lstStyle/>
                    <a:p>
                      <a:pPr algn="ctr"/>
                      <a:r>
                        <a:rPr lang="en-US" altLang="zh-CN" sz="1200" dirty="0">
                          <a:latin typeface="Helvetica" pitchFamily="2" charset="0"/>
                        </a:rPr>
                        <a:t>8.87</a:t>
                      </a:r>
                    </a:p>
                  </a:txBody>
                  <a:tcPr marL="27432" marR="27432" marT="9144" marB="9144" anchor="ctr">
                    <a:noFill/>
                  </a:tcPr>
                </a:tc>
                <a:extLst>
                  <a:ext uri="{0D108BD9-81ED-4DB2-BD59-A6C34878D82A}">
                    <a16:rowId xmlns:a16="http://schemas.microsoft.com/office/drawing/2014/main" val="10001"/>
                  </a:ext>
                </a:extLst>
              </a:tr>
              <a:tr h="430000">
                <a:tc>
                  <a:txBody>
                    <a:bodyPr/>
                    <a:lstStyle/>
                    <a:p>
                      <a:pPr algn="ctr"/>
                      <a:r>
                        <a:rPr lang="en-US" altLang="zh-CN" sz="1200" dirty="0">
                          <a:latin typeface="Helvetica" pitchFamily="2" charset="0"/>
                        </a:rPr>
                        <a:t>Instruments</a:t>
                      </a:r>
                    </a:p>
                  </a:txBody>
                  <a:tcPr marL="27432" marR="27432" marT="9144" marB="9144" anchor="ctr">
                    <a:noFill/>
                  </a:tcPr>
                </a:tc>
                <a:tc>
                  <a:txBody>
                    <a:bodyPr/>
                    <a:lstStyle/>
                    <a:p>
                      <a:pPr algn="ctr"/>
                      <a:r>
                        <a:rPr lang="en-US" altLang="zh-CN" sz="1200" dirty="0">
                          <a:latin typeface="Helvetica" pitchFamily="2" charset="0"/>
                        </a:rPr>
                        <a:t>24,772</a:t>
                      </a:r>
                    </a:p>
                  </a:txBody>
                  <a:tcPr marL="27432" marR="27432" marT="9144" marB="9144" anchor="ctr">
                    <a:noFill/>
                  </a:tcPr>
                </a:tc>
                <a:tc>
                  <a:txBody>
                    <a:bodyPr/>
                    <a:lstStyle/>
                    <a:p>
                      <a:pPr algn="ctr"/>
                      <a:r>
                        <a:rPr lang="en-US" altLang="zh-CN" sz="1200" dirty="0">
                          <a:latin typeface="Helvetica" pitchFamily="2" charset="0"/>
                        </a:rPr>
                        <a:t>9,922</a:t>
                      </a:r>
                    </a:p>
                  </a:txBody>
                  <a:tcPr marL="27432" marR="27432" marT="9144" marB="9144" anchor="ctr">
                    <a:noFill/>
                  </a:tcPr>
                </a:tc>
                <a:tc>
                  <a:txBody>
                    <a:bodyPr/>
                    <a:lstStyle/>
                    <a:p>
                      <a:pPr algn="ctr"/>
                      <a:r>
                        <a:rPr lang="en-US" altLang="zh-CN" sz="1200" dirty="0">
                          <a:latin typeface="Helvetica" pitchFamily="2" charset="0"/>
                        </a:rPr>
                        <a:t>206,153</a:t>
                      </a:r>
                    </a:p>
                  </a:txBody>
                  <a:tcPr marL="27432" marR="27432" marT="9144" marB="9144" anchor="ctr">
                    <a:noFill/>
                  </a:tcPr>
                </a:tc>
                <a:tc>
                  <a:txBody>
                    <a:bodyPr/>
                    <a:lstStyle/>
                    <a:p>
                      <a:pPr algn="ctr"/>
                      <a:r>
                        <a:rPr lang="en-US" altLang="zh-CN" sz="1200" dirty="0">
                          <a:latin typeface="Helvetica" pitchFamily="2" charset="0"/>
                        </a:rPr>
                        <a:t>99.92%</a:t>
                      </a:r>
                    </a:p>
                  </a:txBody>
                  <a:tcPr marL="27432" marR="27432" marT="9144" marB="9144" anchor="ctr">
                    <a:noFill/>
                  </a:tcPr>
                </a:tc>
                <a:tc>
                  <a:txBody>
                    <a:bodyPr/>
                    <a:lstStyle/>
                    <a:p>
                      <a:pPr algn="ctr"/>
                      <a:r>
                        <a:rPr lang="en-US" altLang="zh-CN" sz="1200" dirty="0">
                          <a:latin typeface="Helvetica" pitchFamily="2" charset="0"/>
                        </a:rPr>
                        <a:t>8.32</a:t>
                      </a:r>
                    </a:p>
                  </a:txBody>
                  <a:tcPr marL="27432" marR="27432" marT="9144" marB="9144" anchor="ctr">
                    <a:noFill/>
                  </a:tcPr>
                </a:tc>
                <a:extLst>
                  <a:ext uri="{0D108BD9-81ED-4DB2-BD59-A6C34878D82A}">
                    <a16:rowId xmlns:a16="http://schemas.microsoft.com/office/drawing/2014/main" val="10002"/>
                  </a:ext>
                </a:extLst>
              </a:tr>
              <a:tr h="430000">
                <a:tc>
                  <a:txBody>
                    <a:bodyPr/>
                    <a:lstStyle/>
                    <a:p>
                      <a:pPr algn="ctr"/>
                      <a:r>
                        <a:rPr lang="en-US" altLang="zh-CN" sz="1200" dirty="0">
                          <a:latin typeface="Helvetica" pitchFamily="2" charset="0"/>
                        </a:rPr>
                        <a:t>Arts</a:t>
                      </a:r>
                    </a:p>
                  </a:txBody>
                  <a:tcPr marL="27432" marR="27432" marT="9144" marB="9144" anchor="ctr">
                    <a:noFill/>
                  </a:tcPr>
                </a:tc>
                <a:tc>
                  <a:txBody>
                    <a:bodyPr/>
                    <a:lstStyle/>
                    <a:p>
                      <a:pPr algn="ctr"/>
                      <a:r>
                        <a:rPr lang="en-US" altLang="zh-CN" sz="1200" dirty="0">
                          <a:latin typeface="Helvetica" pitchFamily="2" charset="0"/>
                        </a:rPr>
                        <a:t>45,141</a:t>
                      </a:r>
                    </a:p>
                  </a:txBody>
                  <a:tcPr marL="27432" marR="27432" marT="9144" marB="9144" anchor="ctr">
                    <a:noFill/>
                  </a:tcPr>
                </a:tc>
                <a:tc>
                  <a:txBody>
                    <a:bodyPr/>
                    <a:lstStyle/>
                    <a:p>
                      <a:pPr algn="ctr"/>
                      <a:r>
                        <a:rPr lang="en-US" altLang="zh-CN" sz="1200" dirty="0">
                          <a:latin typeface="Helvetica" pitchFamily="2" charset="0"/>
                        </a:rPr>
                        <a:t>20,956</a:t>
                      </a:r>
                    </a:p>
                  </a:txBody>
                  <a:tcPr marL="27432" marR="27432" marT="9144" marB="9144" anchor="ctr">
                    <a:noFill/>
                  </a:tcPr>
                </a:tc>
                <a:tc>
                  <a:txBody>
                    <a:bodyPr/>
                    <a:lstStyle/>
                    <a:p>
                      <a:pPr algn="ctr"/>
                      <a:r>
                        <a:rPr lang="en-US" altLang="zh-CN" sz="1200" dirty="0">
                          <a:latin typeface="Helvetica" pitchFamily="2" charset="0"/>
                        </a:rPr>
                        <a:t>390,832</a:t>
                      </a:r>
                    </a:p>
                  </a:txBody>
                  <a:tcPr marL="27432" marR="27432" marT="9144" marB="9144" anchor="ctr">
                    <a:noFill/>
                  </a:tcPr>
                </a:tc>
                <a:tc>
                  <a:txBody>
                    <a:bodyPr/>
                    <a:lstStyle/>
                    <a:p>
                      <a:pPr algn="ctr"/>
                      <a:r>
                        <a:rPr lang="en-US" altLang="zh-CN" sz="1200" dirty="0">
                          <a:latin typeface="Helvetica" pitchFamily="2" charset="0"/>
                        </a:rPr>
                        <a:t>99.96%</a:t>
                      </a:r>
                    </a:p>
                  </a:txBody>
                  <a:tcPr marL="27432" marR="27432" marT="9144" marB="9144" anchor="ctr">
                    <a:noFill/>
                  </a:tcPr>
                </a:tc>
                <a:tc>
                  <a:txBody>
                    <a:bodyPr/>
                    <a:lstStyle/>
                    <a:p>
                      <a:pPr algn="ctr"/>
                      <a:r>
                        <a:rPr lang="en-US" altLang="zh-CN" sz="1200" dirty="0">
                          <a:latin typeface="Helvetica" pitchFamily="2" charset="0"/>
                        </a:rPr>
                        <a:t>8.66</a:t>
                      </a:r>
                    </a:p>
                  </a:txBody>
                  <a:tcPr marL="27432" marR="27432" marT="9144" marB="9144" anchor="c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Experiment</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Overall Performance (RQ1)</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14/20</a:t>
            </a:r>
          </a:p>
        </p:txBody>
      </p:sp>
      <p:sp>
        <p:nvSpPr>
          <p:cNvPr id="4" name="正文"/>
          <p:cNvSpPr txBox="1"/>
          <p:nvPr/>
        </p:nvSpPr>
        <p:spPr>
          <a:xfrm>
            <a:off x="631811" y="1800107"/>
            <a:ext cx="10900000" cy="1400000"/>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1900" dirty="0">
                <a:latin typeface="Helvetica" pitchFamily="2" charset="0"/>
              </a:rPr>
              <a:t>Compared against 11 baselines: MF, LightGCN, Caser, GRU4Rec, HGN, SASRec, P5, TIGER, OneRec, LETTER, ETEGRec</a:t>
            </a:r>
          </a:p>
        </p:txBody>
      </p:sp>
      <p:pic>
        <p:nvPicPr>
          <p:cNvPr id="5" name="图片 4">
            <a:extLst>
              <a:ext uri="{FF2B5EF4-FFF2-40B4-BE49-F238E27FC236}">
                <a16:creationId xmlns:a16="http://schemas.microsoft.com/office/drawing/2014/main" id="{96F0C01B-2582-0083-FEE4-2E6454CA5C4C}"/>
              </a:ext>
            </a:extLst>
          </p:cNvPr>
          <p:cNvPicPr>
            <a:picLocks noChangeAspect="1"/>
          </p:cNvPicPr>
          <p:nvPr/>
        </p:nvPicPr>
        <p:blipFill>
          <a:blip r:embed="rId3"/>
          <a:stretch>
            <a:fillRect/>
          </a:stretch>
        </p:blipFill>
        <p:spPr>
          <a:xfrm>
            <a:off x="988465" y="2946713"/>
            <a:ext cx="10543346" cy="28495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Experiment</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Ablation Study (RQ2)</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15/20</a:t>
            </a:r>
          </a:p>
        </p:txBody>
      </p:sp>
      <p:sp>
        <p:nvSpPr>
          <p:cNvPr id="4" name="正文"/>
          <p:cNvSpPr txBox="1"/>
          <p:nvPr/>
        </p:nvSpPr>
        <p:spPr>
          <a:xfrm>
            <a:off x="631811" y="1800107"/>
            <a:ext cx="10900000" cy="1200000"/>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Systematically disable each design element on Beauty</a:t>
            </a:r>
          </a:p>
        </p:txBody>
      </p:sp>
      <p:graphicFrame>
        <p:nvGraphicFramePr>
          <p:cNvPr id="22" name="表格 22"/>
          <p:cNvGraphicFramePr/>
          <p:nvPr>
            <p:extLst>
              <p:ext uri="{D42A27DB-BD31-4B8C-83A1-F6EECF244321}">
                <p14:modId xmlns:p14="http://schemas.microsoft.com/office/powerpoint/2010/main" val="1473174571"/>
              </p:ext>
            </p:extLst>
          </p:nvPr>
        </p:nvGraphicFramePr>
        <p:xfrm>
          <a:off x="981811" y="2492894"/>
          <a:ext cx="10200000" cy="2730000"/>
        </p:xfrm>
        <a:graphic>
          <a:graphicData uri="http://schemas.openxmlformats.org/drawingml/2006/table">
            <a:tbl>
              <a:tblPr firstRow="1" bandRow="1">
                <a:tableStyleId>{5C22544A-7EE6-4342-B048-85BDC9FD1C3A}</a:tableStyleId>
              </a:tblPr>
              <a:tblGrid>
                <a:gridCol w="2900000">
                  <a:extLst>
                    <a:ext uri="{9D8B030D-6E8A-4147-A177-3AD203B41FA5}">
                      <a16:colId xmlns:a16="http://schemas.microsoft.com/office/drawing/2014/main" val="20000"/>
                    </a:ext>
                  </a:extLst>
                </a:gridCol>
                <a:gridCol w="1750000">
                  <a:extLst>
                    <a:ext uri="{9D8B030D-6E8A-4147-A177-3AD203B41FA5}">
                      <a16:colId xmlns:a16="http://schemas.microsoft.com/office/drawing/2014/main" val="20001"/>
                    </a:ext>
                  </a:extLst>
                </a:gridCol>
                <a:gridCol w="1750000">
                  <a:extLst>
                    <a:ext uri="{9D8B030D-6E8A-4147-A177-3AD203B41FA5}">
                      <a16:colId xmlns:a16="http://schemas.microsoft.com/office/drawing/2014/main" val="20002"/>
                    </a:ext>
                  </a:extLst>
                </a:gridCol>
                <a:gridCol w="1900000">
                  <a:extLst>
                    <a:ext uri="{9D8B030D-6E8A-4147-A177-3AD203B41FA5}">
                      <a16:colId xmlns:a16="http://schemas.microsoft.com/office/drawing/2014/main" val="20003"/>
                    </a:ext>
                  </a:extLst>
                </a:gridCol>
                <a:gridCol w="1900000">
                  <a:extLst>
                    <a:ext uri="{9D8B030D-6E8A-4147-A177-3AD203B41FA5}">
                      <a16:colId xmlns:a16="http://schemas.microsoft.com/office/drawing/2014/main" val="20004"/>
                    </a:ext>
                  </a:extLst>
                </a:gridCol>
              </a:tblGrid>
              <a:tr h="390000">
                <a:tc>
                  <a:txBody>
                    <a:bodyPr/>
                    <a:lstStyle/>
                    <a:p>
                      <a:pPr algn="ctr"/>
                      <a:r>
                        <a:rPr lang="en-US" altLang="zh-CN" sz="1800" b="1" dirty="0">
                          <a:solidFill>
                            <a:srgbClr val="FFFFFF"/>
                          </a:solidFill>
                          <a:latin typeface="Helvetica" pitchFamily="2" charset="0"/>
                        </a:rPr>
                        <a:t>Method</a:t>
                      </a:r>
                    </a:p>
                  </a:txBody>
                  <a:tcPr marL="27432" marR="27432" marT="9144" marB="9144" anchor="ctr">
                    <a:solidFill>
                      <a:srgbClr val="002060"/>
                    </a:solidFill>
                  </a:tcPr>
                </a:tc>
                <a:tc>
                  <a:txBody>
                    <a:bodyPr/>
                    <a:lstStyle/>
                    <a:p>
                      <a:pPr algn="ctr"/>
                      <a:r>
                        <a:rPr lang="en-US" altLang="zh-CN" sz="1800" b="1" dirty="0">
                          <a:solidFill>
                            <a:srgbClr val="FFFFFF"/>
                          </a:solidFill>
                          <a:latin typeface="Helvetica" pitchFamily="2" charset="0"/>
                        </a:rPr>
                        <a:t>R@5</a:t>
                      </a:r>
                    </a:p>
                  </a:txBody>
                  <a:tcPr marL="27432" marR="27432" marT="9144" marB="9144" anchor="ctr">
                    <a:solidFill>
                      <a:srgbClr val="002060"/>
                    </a:solidFill>
                  </a:tcPr>
                </a:tc>
                <a:tc>
                  <a:txBody>
                    <a:bodyPr/>
                    <a:lstStyle/>
                    <a:p>
                      <a:pPr algn="ctr"/>
                      <a:r>
                        <a:rPr lang="en-US" altLang="zh-CN" sz="1800" b="1" dirty="0">
                          <a:solidFill>
                            <a:srgbClr val="FFFFFF"/>
                          </a:solidFill>
                          <a:latin typeface="Helvetica" pitchFamily="2" charset="0"/>
                        </a:rPr>
                        <a:t>N@5</a:t>
                      </a:r>
                    </a:p>
                  </a:txBody>
                  <a:tcPr marL="27432" marR="27432" marT="9144" marB="9144" anchor="ctr">
                    <a:solidFill>
                      <a:srgbClr val="002060"/>
                    </a:solidFill>
                  </a:tcPr>
                </a:tc>
                <a:tc>
                  <a:txBody>
                    <a:bodyPr/>
                    <a:lstStyle/>
                    <a:p>
                      <a:pPr algn="ctr"/>
                      <a:r>
                        <a:rPr lang="en-US" altLang="zh-CN" sz="1800" b="1" dirty="0">
                          <a:solidFill>
                            <a:srgbClr val="FFFFFF"/>
                          </a:solidFill>
                          <a:latin typeface="Helvetica" pitchFamily="2" charset="0"/>
                        </a:rPr>
                        <a:t>R@10</a:t>
                      </a:r>
                    </a:p>
                  </a:txBody>
                  <a:tcPr marL="27432" marR="27432" marT="9144" marB="9144" anchor="ctr">
                    <a:solidFill>
                      <a:srgbClr val="002060"/>
                    </a:solidFill>
                  </a:tcPr>
                </a:tc>
                <a:tc>
                  <a:txBody>
                    <a:bodyPr/>
                    <a:lstStyle/>
                    <a:p>
                      <a:pPr algn="ctr"/>
                      <a:r>
                        <a:rPr lang="en-US" altLang="zh-CN" sz="1800" b="1" dirty="0">
                          <a:solidFill>
                            <a:srgbClr val="FFFFFF"/>
                          </a:solidFill>
                          <a:latin typeface="Helvetica" pitchFamily="2" charset="0"/>
                        </a:rPr>
                        <a:t>N@10</a:t>
                      </a:r>
                    </a:p>
                  </a:txBody>
                  <a:tcPr marL="27432" marR="27432" marT="9144" marB="9144" anchor="ctr">
                    <a:solidFill>
                      <a:srgbClr val="002060"/>
                    </a:solidFill>
                  </a:tcPr>
                </a:tc>
                <a:extLst>
                  <a:ext uri="{0D108BD9-81ED-4DB2-BD59-A6C34878D82A}">
                    <a16:rowId xmlns:a16="http://schemas.microsoft.com/office/drawing/2014/main" val="10000"/>
                  </a:ext>
                </a:extLst>
              </a:tr>
              <a:tr h="390000">
                <a:tc>
                  <a:txBody>
                    <a:bodyPr/>
                    <a:lstStyle/>
                    <a:p>
                      <a:pPr algn="ctr"/>
                      <a:r>
                        <a:rPr lang="en-US" altLang="zh-CN" sz="1800" b="1" dirty="0">
                          <a:solidFill>
                            <a:srgbClr val="002060"/>
                          </a:solidFill>
                          <a:latin typeface="Helvetica" pitchFamily="2" charset="0"/>
                        </a:rPr>
                        <a:t>BLOGER</a:t>
                      </a:r>
                    </a:p>
                  </a:txBody>
                  <a:tcPr marL="27432" marR="27432" marT="9144" marB="9144" anchor="ctr">
                    <a:noFill/>
                  </a:tcPr>
                </a:tc>
                <a:tc>
                  <a:txBody>
                    <a:bodyPr/>
                    <a:lstStyle/>
                    <a:p>
                      <a:pPr algn="ctr"/>
                      <a:r>
                        <a:rPr lang="en-US" altLang="zh-CN" sz="1800" b="1" dirty="0">
                          <a:solidFill>
                            <a:srgbClr val="002060"/>
                          </a:solidFill>
                          <a:latin typeface="Helvetica" pitchFamily="2" charset="0"/>
                        </a:rPr>
                        <a:t>0.0444</a:t>
                      </a:r>
                    </a:p>
                  </a:txBody>
                  <a:tcPr marL="27432" marR="27432" marT="9144" marB="9144" anchor="ctr">
                    <a:noFill/>
                  </a:tcPr>
                </a:tc>
                <a:tc>
                  <a:txBody>
                    <a:bodyPr/>
                    <a:lstStyle/>
                    <a:p>
                      <a:pPr algn="ctr"/>
                      <a:r>
                        <a:rPr lang="en-US" altLang="zh-CN" sz="1800" b="1" dirty="0">
                          <a:solidFill>
                            <a:srgbClr val="002060"/>
                          </a:solidFill>
                          <a:latin typeface="Helvetica" pitchFamily="2" charset="0"/>
                        </a:rPr>
                        <a:t>0.0293</a:t>
                      </a:r>
                    </a:p>
                  </a:txBody>
                  <a:tcPr marL="27432" marR="27432" marT="9144" marB="9144" anchor="ctr">
                    <a:noFill/>
                  </a:tcPr>
                </a:tc>
                <a:tc>
                  <a:txBody>
                    <a:bodyPr/>
                    <a:lstStyle/>
                    <a:p>
                      <a:pPr algn="ctr"/>
                      <a:r>
                        <a:rPr lang="en-US" altLang="zh-CN" sz="1800" b="1" dirty="0">
                          <a:solidFill>
                            <a:srgbClr val="002060"/>
                          </a:solidFill>
                          <a:latin typeface="Helvetica" pitchFamily="2" charset="0"/>
                        </a:rPr>
                        <a:t>0.0654</a:t>
                      </a:r>
                    </a:p>
                  </a:txBody>
                  <a:tcPr marL="27432" marR="27432" marT="9144" marB="9144" anchor="ctr">
                    <a:noFill/>
                  </a:tcPr>
                </a:tc>
                <a:tc>
                  <a:txBody>
                    <a:bodyPr/>
                    <a:lstStyle/>
                    <a:p>
                      <a:pPr algn="ctr"/>
                      <a:r>
                        <a:rPr lang="en-US" altLang="zh-CN" sz="1800" b="1" dirty="0">
                          <a:solidFill>
                            <a:srgbClr val="002060"/>
                          </a:solidFill>
                          <a:latin typeface="Helvetica" pitchFamily="2" charset="0"/>
                        </a:rPr>
                        <a:t>0.0361</a:t>
                      </a:r>
                    </a:p>
                  </a:txBody>
                  <a:tcPr marL="27432" marR="27432" marT="9144" marB="9144" anchor="ctr">
                    <a:noFill/>
                  </a:tcPr>
                </a:tc>
                <a:extLst>
                  <a:ext uri="{0D108BD9-81ED-4DB2-BD59-A6C34878D82A}">
                    <a16:rowId xmlns:a16="http://schemas.microsoft.com/office/drawing/2014/main" val="10001"/>
                  </a:ext>
                </a:extLst>
              </a:tr>
              <a:tr h="390000">
                <a:tc>
                  <a:txBody>
                    <a:bodyPr/>
                    <a:lstStyle/>
                    <a:p>
                      <a:pPr algn="ctr"/>
                      <a:r>
                        <a:rPr lang="en-US" altLang="zh-CN" sz="1800" dirty="0">
                          <a:latin typeface="Helvetica" pitchFamily="2" charset="0"/>
                        </a:rPr>
                        <a:t>w/ LETTER</a:t>
                      </a:r>
                    </a:p>
                  </a:txBody>
                  <a:tcPr marL="27432" marR="27432" marT="9144" marB="9144" anchor="ctr">
                    <a:noFill/>
                  </a:tcPr>
                </a:tc>
                <a:tc>
                  <a:txBody>
                    <a:bodyPr/>
                    <a:lstStyle/>
                    <a:p>
                      <a:pPr algn="ctr"/>
                      <a:r>
                        <a:rPr lang="en-US" altLang="zh-CN" sz="1800" dirty="0">
                          <a:latin typeface="Helvetica" pitchFamily="2" charset="0"/>
                        </a:rPr>
                        <a:t>0.0489</a:t>
                      </a:r>
                    </a:p>
                  </a:txBody>
                  <a:tcPr marL="27432" marR="27432" marT="9144" marB="9144" anchor="ctr">
                    <a:noFill/>
                  </a:tcPr>
                </a:tc>
                <a:tc>
                  <a:txBody>
                    <a:bodyPr/>
                    <a:lstStyle/>
                    <a:p>
                      <a:pPr algn="ctr"/>
                      <a:r>
                        <a:rPr lang="en-US" altLang="zh-CN" sz="1800" dirty="0">
                          <a:latin typeface="Helvetica" pitchFamily="2" charset="0"/>
                        </a:rPr>
                        <a:t>0.0322</a:t>
                      </a:r>
                    </a:p>
                  </a:txBody>
                  <a:tcPr marL="27432" marR="27432" marT="9144" marB="9144" anchor="ctr">
                    <a:noFill/>
                  </a:tcPr>
                </a:tc>
                <a:tc>
                  <a:txBody>
                    <a:bodyPr/>
                    <a:lstStyle/>
                    <a:p>
                      <a:pPr algn="ctr"/>
                      <a:r>
                        <a:rPr lang="en-US" altLang="zh-CN" sz="1800" dirty="0">
                          <a:latin typeface="Helvetica" pitchFamily="2" charset="0"/>
                        </a:rPr>
                        <a:t>0.0732</a:t>
                      </a:r>
                    </a:p>
                  </a:txBody>
                  <a:tcPr marL="27432" marR="27432" marT="9144" marB="9144" anchor="ctr">
                    <a:noFill/>
                  </a:tcPr>
                </a:tc>
                <a:tc>
                  <a:txBody>
                    <a:bodyPr/>
                    <a:lstStyle/>
                    <a:p>
                      <a:pPr algn="ctr"/>
                      <a:r>
                        <a:rPr lang="en-US" altLang="zh-CN" sz="1800" dirty="0">
                          <a:latin typeface="Helvetica" pitchFamily="2" charset="0"/>
                        </a:rPr>
                        <a:t>0.0400</a:t>
                      </a:r>
                    </a:p>
                  </a:txBody>
                  <a:tcPr marL="27432" marR="27432" marT="9144" marB="9144" anchor="ctr">
                    <a:noFill/>
                  </a:tcPr>
                </a:tc>
                <a:extLst>
                  <a:ext uri="{0D108BD9-81ED-4DB2-BD59-A6C34878D82A}">
                    <a16:rowId xmlns:a16="http://schemas.microsoft.com/office/drawing/2014/main" val="10002"/>
                  </a:ext>
                </a:extLst>
              </a:tr>
              <a:tr h="390000">
                <a:tc>
                  <a:txBody>
                    <a:bodyPr/>
                    <a:lstStyle/>
                    <a:p>
                      <a:pPr algn="ctr"/>
                      <a:r>
                        <a:rPr lang="en-US" altLang="zh-CN" sz="1800" dirty="0">
                          <a:latin typeface="Helvetica" pitchFamily="2" charset="0"/>
                        </a:rPr>
                        <a:t>w/o GS</a:t>
                      </a:r>
                    </a:p>
                  </a:txBody>
                  <a:tcPr marL="27432" marR="27432" marT="9144" marB="9144" anchor="ctr">
                    <a:noFill/>
                  </a:tcPr>
                </a:tc>
                <a:tc>
                  <a:txBody>
                    <a:bodyPr/>
                    <a:lstStyle/>
                    <a:p>
                      <a:pPr algn="ctr"/>
                      <a:r>
                        <a:rPr lang="en-US" altLang="zh-CN" sz="1800" dirty="0">
                          <a:latin typeface="Helvetica" pitchFamily="2" charset="0"/>
                        </a:rPr>
                        <a:t>0.0329</a:t>
                      </a:r>
                    </a:p>
                  </a:txBody>
                  <a:tcPr marL="27432" marR="27432" marT="9144" marB="9144" anchor="ctr">
                    <a:noFill/>
                  </a:tcPr>
                </a:tc>
                <a:tc>
                  <a:txBody>
                    <a:bodyPr/>
                    <a:lstStyle/>
                    <a:p>
                      <a:pPr algn="ctr"/>
                      <a:r>
                        <a:rPr lang="en-US" altLang="zh-CN" sz="1800" dirty="0">
                          <a:latin typeface="Helvetica" pitchFamily="2" charset="0"/>
                        </a:rPr>
                        <a:t>0.0209</a:t>
                      </a:r>
                    </a:p>
                  </a:txBody>
                  <a:tcPr marL="27432" marR="27432" marT="9144" marB="9144" anchor="ctr">
                    <a:noFill/>
                  </a:tcPr>
                </a:tc>
                <a:tc>
                  <a:txBody>
                    <a:bodyPr/>
                    <a:lstStyle/>
                    <a:p>
                      <a:pPr algn="ctr"/>
                      <a:r>
                        <a:rPr lang="en-US" altLang="zh-CN" sz="1800" dirty="0">
                          <a:latin typeface="Helvetica" pitchFamily="2" charset="0"/>
                        </a:rPr>
                        <a:t>0.0530</a:t>
                      </a:r>
                    </a:p>
                  </a:txBody>
                  <a:tcPr marL="27432" marR="27432" marT="9144" marB="9144" anchor="ctr">
                    <a:noFill/>
                  </a:tcPr>
                </a:tc>
                <a:tc>
                  <a:txBody>
                    <a:bodyPr/>
                    <a:lstStyle/>
                    <a:p>
                      <a:pPr algn="ctr"/>
                      <a:r>
                        <a:rPr lang="en-US" altLang="zh-CN" sz="1800" dirty="0">
                          <a:latin typeface="Helvetica" pitchFamily="2" charset="0"/>
                        </a:rPr>
                        <a:t>0.0274</a:t>
                      </a:r>
                    </a:p>
                  </a:txBody>
                  <a:tcPr marL="27432" marR="27432" marT="9144" marB="9144" anchor="ctr">
                    <a:noFill/>
                  </a:tcPr>
                </a:tc>
                <a:extLst>
                  <a:ext uri="{0D108BD9-81ED-4DB2-BD59-A6C34878D82A}">
                    <a16:rowId xmlns:a16="http://schemas.microsoft.com/office/drawing/2014/main" val="10003"/>
                  </a:ext>
                </a:extLst>
              </a:tr>
              <a:tr h="390000">
                <a:tc>
                  <a:txBody>
                    <a:bodyPr/>
                    <a:lstStyle/>
                    <a:p>
                      <a:pPr algn="ctr"/>
                      <a:r>
                        <a:rPr lang="en-US" altLang="zh-CN" sz="1800" dirty="0">
                          <a:latin typeface="Helvetica" pitchFamily="2" charset="0"/>
                        </a:rPr>
                        <a:t>Joint</a:t>
                      </a:r>
                    </a:p>
                  </a:txBody>
                  <a:tcPr marL="27432" marR="27432" marT="9144" marB="9144" anchor="ctr">
                    <a:noFill/>
                  </a:tcPr>
                </a:tc>
                <a:tc>
                  <a:txBody>
                    <a:bodyPr/>
                    <a:lstStyle/>
                    <a:p>
                      <a:pPr algn="ctr"/>
                      <a:r>
                        <a:rPr lang="en-US" altLang="zh-CN" sz="1800" dirty="0">
                          <a:latin typeface="Helvetica" pitchFamily="2" charset="0"/>
                        </a:rPr>
                        <a:t>0.0418</a:t>
                      </a:r>
                    </a:p>
                  </a:txBody>
                  <a:tcPr marL="27432" marR="27432" marT="9144" marB="9144" anchor="ctr">
                    <a:noFill/>
                  </a:tcPr>
                </a:tc>
                <a:tc>
                  <a:txBody>
                    <a:bodyPr/>
                    <a:lstStyle/>
                    <a:p>
                      <a:pPr algn="ctr"/>
                      <a:r>
                        <a:rPr lang="en-US" altLang="zh-CN" sz="1800" dirty="0">
                          <a:latin typeface="Helvetica" pitchFamily="2" charset="0"/>
                        </a:rPr>
                        <a:t>0.0272</a:t>
                      </a:r>
                    </a:p>
                  </a:txBody>
                  <a:tcPr marL="27432" marR="27432" marT="9144" marB="9144" anchor="ctr">
                    <a:noFill/>
                  </a:tcPr>
                </a:tc>
                <a:tc>
                  <a:txBody>
                    <a:bodyPr/>
                    <a:lstStyle/>
                    <a:p>
                      <a:pPr algn="ctr"/>
                      <a:r>
                        <a:rPr lang="en-US" altLang="zh-CN" sz="1800" dirty="0">
                          <a:latin typeface="Helvetica" pitchFamily="2" charset="0"/>
                        </a:rPr>
                        <a:t>0.0637</a:t>
                      </a:r>
                    </a:p>
                  </a:txBody>
                  <a:tcPr marL="27432" marR="27432" marT="9144" marB="9144" anchor="ctr">
                    <a:noFill/>
                  </a:tcPr>
                </a:tc>
                <a:tc>
                  <a:txBody>
                    <a:bodyPr/>
                    <a:lstStyle/>
                    <a:p>
                      <a:pPr algn="ctr"/>
                      <a:r>
                        <a:rPr lang="en-US" altLang="zh-CN" sz="1800" dirty="0">
                          <a:latin typeface="Helvetica" pitchFamily="2" charset="0"/>
                        </a:rPr>
                        <a:t>0.0342</a:t>
                      </a:r>
                    </a:p>
                  </a:txBody>
                  <a:tcPr marL="27432" marR="27432" marT="9144" marB="9144" anchor="ctr">
                    <a:noFill/>
                  </a:tcPr>
                </a:tc>
                <a:extLst>
                  <a:ext uri="{0D108BD9-81ED-4DB2-BD59-A6C34878D82A}">
                    <a16:rowId xmlns:a16="http://schemas.microsoft.com/office/drawing/2014/main" val="10004"/>
                  </a:ext>
                </a:extLst>
              </a:tr>
              <a:tr h="390000">
                <a:tc>
                  <a:txBody>
                    <a:bodyPr/>
                    <a:lstStyle/>
                    <a:p>
                      <a:pPr algn="ctr"/>
                      <a:r>
                        <a:rPr lang="en-US" altLang="zh-CN" sz="1800" dirty="0">
                          <a:latin typeface="Helvetica" pitchFamily="2" charset="0"/>
                        </a:rPr>
                        <a:t>Joint w/ GS</a:t>
                      </a:r>
                    </a:p>
                  </a:txBody>
                  <a:tcPr marL="27432" marR="27432" marT="9144" marB="9144" anchor="ctr">
                    <a:noFill/>
                  </a:tcPr>
                </a:tc>
                <a:tc>
                  <a:txBody>
                    <a:bodyPr/>
                    <a:lstStyle/>
                    <a:p>
                      <a:pPr algn="ctr"/>
                      <a:r>
                        <a:rPr lang="en-US" altLang="zh-CN" sz="1800" dirty="0">
                          <a:latin typeface="Helvetica" pitchFamily="2" charset="0"/>
                        </a:rPr>
                        <a:t>0.0412</a:t>
                      </a:r>
                    </a:p>
                  </a:txBody>
                  <a:tcPr marL="27432" marR="27432" marT="9144" marB="9144" anchor="ctr">
                    <a:noFill/>
                  </a:tcPr>
                </a:tc>
                <a:tc>
                  <a:txBody>
                    <a:bodyPr/>
                    <a:lstStyle/>
                    <a:p>
                      <a:pPr algn="ctr"/>
                      <a:r>
                        <a:rPr lang="en-US" altLang="zh-CN" sz="1800" dirty="0">
                          <a:latin typeface="Helvetica" pitchFamily="2" charset="0"/>
                        </a:rPr>
                        <a:t>0.0273</a:t>
                      </a:r>
                    </a:p>
                  </a:txBody>
                  <a:tcPr marL="27432" marR="27432" marT="9144" marB="9144" anchor="ctr">
                    <a:noFill/>
                  </a:tcPr>
                </a:tc>
                <a:tc>
                  <a:txBody>
                    <a:bodyPr/>
                    <a:lstStyle/>
                    <a:p>
                      <a:pPr algn="ctr"/>
                      <a:r>
                        <a:rPr lang="en-US" altLang="zh-CN" sz="1800" dirty="0">
                          <a:latin typeface="Helvetica" pitchFamily="2" charset="0"/>
                        </a:rPr>
                        <a:t>0.0631</a:t>
                      </a:r>
                    </a:p>
                  </a:txBody>
                  <a:tcPr marL="27432" marR="27432" marT="9144" marB="9144" anchor="ctr">
                    <a:noFill/>
                  </a:tcPr>
                </a:tc>
                <a:tc>
                  <a:txBody>
                    <a:bodyPr/>
                    <a:lstStyle/>
                    <a:p>
                      <a:pPr algn="ctr"/>
                      <a:r>
                        <a:rPr lang="en-US" altLang="zh-CN" sz="1800" dirty="0">
                          <a:latin typeface="Helvetica" pitchFamily="2" charset="0"/>
                        </a:rPr>
                        <a:t>0.0343</a:t>
                      </a:r>
                    </a:p>
                  </a:txBody>
                  <a:tcPr marL="27432" marR="27432" marT="9144" marB="9144" anchor="ctr">
                    <a:noFill/>
                  </a:tcPr>
                </a:tc>
                <a:extLst>
                  <a:ext uri="{0D108BD9-81ED-4DB2-BD59-A6C34878D82A}">
                    <a16:rowId xmlns:a16="http://schemas.microsoft.com/office/drawing/2014/main" val="10005"/>
                  </a:ext>
                </a:extLst>
              </a:tr>
              <a:tr h="390000">
                <a:tc>
                  <a:txBody>
                    <a:bodyPr/>
                    <a:lstStyle/>
                    <a:p>
                      <a:pPr algn="ctr"/>
                      <a:r>
                        <a:rPr lang="en-US" altLang="zh-CN" sz="1800" dirty="0">
                          <a:latin typeface="Helvetica" pitchFamily="2" charset="0"/>
                        </a:rPr>
                        <a:t>Fixed</a:t>
                      </a:r>
                    </a:p>
                  </a:txBody>
                  <a:tcPr marL="27432" marR="27432" marT="9144" marB="9144" anchor="ctr">
                    <a:noFill/>
                  </a:tcPr>
                </a:tc>
                <a:tc>
                  <a:txBody>
                    <a:bodyPr/>
                    <a:lstStyle/>
                    <a:p>
                      <a:pPr algn="ctr"/>
                      <a:r>
                        <a:rPr lang="en-US" altLang="zh-CN" sz="1800" dirty="0">
                          <a:latin typeface="Helvetica" pitchFamily="2" charset="0"/>
                        </a:rPr>
                        <a:t>0.0384</a:t>
                      </a:r>
                    </a:p>
                  </a:txBody>
                  <a:tcPr marL="27432" marR="27432" marT="9144" marB="9144" anchor="ctr">
                    <a:noFill/>
                  </a:tcPr>
                </a:tc>
                <a:tc>
                  <a:txBody>
                    <a:bodyPr/>
                    <a:lstStyle/>
                    <a:p>
                      <a:pPr algn="ctr"/>
                      <a:r>
                        <a:rPr lang="en-US" altLang="zh-CN" sz="1800" dirty="0">
                          <a:latin typeface="Helvetica" pitchFamily="2" charset="0"/>
                        </a:rPr>
                        <a:t>0.0256</a:t>
                      </a:r>
                    </a:p>
                  </a:txBody>
                  <a:tcPr marL="27432" marR="27432" marT="9144" marB="9144" anchor="ctr">
                    <a:noFill/>
                  </a:tcPr>
                </a:tc>
                <a:tc>
                  <a:txBody>
                    <a:bodyPr/>
                    <a:lstStyle/>
                    <a:p>
                      <a:pPr algn="ctr"/>
                      <a:r>
                        <a:rPr lang="en-US" altLang="zh-CN" sz="1800" dirty="0">
                          <a:latin typeface="Helvetica" pitchFamily="2" charset="0"/>
                        </a:rPr>
                        <a:t>0.0609</a:t>
                      </a:r>
                    </a:p>
                  </a:txBody>
                  <a:tcPr marL="27432" marR="27432" marT="9144" marB="9144" anchor="ctr">
                    <a:noFill/>
                  </a:tcPr>
                </a:tc>
                <a:tc>
                  <a:txBody>
                    <a:bodyPr/>
                    <a:lstStyle/>
                    <a:p>
                      <a:pPr algn="ctr"/>
                      <a:r>
                        <a:rPr lang="en-US" altLang="zh-CN" sz="1800" dirty="0">
                          <a:latin typeface="Helvetica" pitchFamily="2" charset="0"/>
                        </a:rPr>
                        <a:t>0.0329</a:t>
                      </a:r>
                    </a:p>
                  </a:txBody>
                  <a:tcPr marL="27432" marR="27432" marT="9144" marB="9144" anchor="ctr">
                    <a:noFill/>
                  </a:tcPr>
                </a:tc>
                <a:extLst>
                  <a:ext uri="{0D108BD9-81ED-4DB2-BD59-A6C34878D82A}">
                    <a16:rowId xmlns:a16="http://schemas.microsoft.com/office/drawing/2014/main" val="10006"/>
                  </a:ext>
                </a:extLst>
              </a:tr>
            </a:tbl>
          </a:graphicData>
        </a:graphic>
      </p:graphicFrame>
      <p:sp>
        <p:nvSpPr>
          <p:cNvPr id="31" name="正文"/>
          <p:cNvSpPr txBox="1"/>
          <p:nvPr/>
        </p:nvSpPr>
        <p:spPr>
          <a:xfrm>
            <a:off x="631811" y="5380000"/>
            <a:ext cx="10200000" cy="839204"/>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1700" b="1" dirty="0">
                <a:solidFill>
                  <a:srgbClr val="C00000"/>
                </a:solidFill>
                <a:latin typeface="Helvetica" pitchFamily="2" charset="0"/>
              </a:rPr>
              <a:t>w/o GS</a:t>
            </a:r>
            <a:r>
              <a:rPr kumimoji="1" lang="en-US" altLang="zh-CN" sz="1700" dirty="0">
                <a:latin typeface="Helvetica" pitchFamily="2" charset="0"/>
              </a:rPr>
              <a:t>: removing gradient surgery causes the sharpest drop — conflict-free gradients are essential</a:t>
            </a:r>
          </a:p>
          <a:p>
            <a:pPr marL="457200" indent="-457200">
              <a:lnSpc>
                <a:spcPct val="150000"/>
              </a:lnSpc>
              <a:buFont typeface="Wingdings" pitchFamily="2" charset="2"/>
              <a:buChar char="p"/>
            </a:pPr>
            <a:r>
              <a:rPr kumimoji="1" lang="en-US" altLang="zh-CN" sz="1700" b="1" dirty="0">
                <a:solidFill>
                  <a:srgbClr val="002060"/>
                </a:solidFill>
                <a:latin typeface="Helvetica" pitchFamily="2" charset="0"/>
              </a:rPr>
              <a:t>Bi-level </a:t>
            </a:r>
            <a:r>
              <a:rPr kumimoji="1" lang="en-US" altLang="zh-CN" sz="1700" dirty="0">
                <a:latin typeface="Helvetica" pitchFamily="2" charset="0"/>
              </a:rPr>
              <a:t>beats both Joint and Fixed; pairing with LETTER further improves — backbone-agnostic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Experiment</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Hyper-Parameter Analysis (RQ3)</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16/20</a:t>
            </a:r>
          </a:p>
        </p:txBody>
      </p:sp>
      <mc:AlternateContent xmlns:mc="http://schemas.openxmlformats.org/markup-compatibility/2006" xmlns:a14="http://schemas.microsoft.com/office/drawing/2010/main">
        <mc:Choice Requires="a14">
          <p:sp>
            <p:nvSpPr>
              <p:cNvPr id="4" name="正文"/>
              <p:cNvSpPr txBox="1"/>
              <p:nvPr/>
            </p:nvSpPr>
            <p:spPr>
              <a:xfrm>
                <a:off x="631811" y="1800107"/>
                <a:ext cx="10900000" cy="2815258"/>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b="1" dirty="0">
                    <a:solidFill>
                      <a:srgbClr val="002060"/>
                    </a:solidFill>
                    <a:latin typeface="Helvetica" pitchFamily="2" charset="0"/>
                  </a:rPr>
                  <a:t>Loss weight </a:t>
                </a:r>
                <a14:m>
                  <m:oMath xmlns:m="http://schemas.openxmlformats.org/officeDocument/2006/math">
                    <m:r>
                      <a:rPr kumimoji="1" lang="en-US" altLang="zh-CN" sz="2000" b="1" i="1" dirty="0" smtClean="0">
                        <a:solidFill>
                          <a:srgbClr val="002060"/>
                        </a:solidFill>
                        <a:latin typeface="Cambria Math" panose="02040503050406030204" pitchFamily="18" charset="0"/>
                      </a:rPr>
                      <m:t>𝝀</m:t>
                    </m:r>
                  </m:oMath>
                </a14:m>
                <a:r>
                  <a:rPr kumimoji="1" lang="en-US" altLang="zh-CN" sz="2000" dirty="0">
                    <a:latin typeface="Helvetica" pitchFamily="2" charset="0"/>
                  </a:rPr>
                  <a:t> balances recommendation vs. tokenization supervision at the outer level</a:t>
                </a:r>
              </a:p>
              <a:p>
                <a:pPr marL="914400" lvl="1" indent="-457200">
                  <a:lnSpc>
                    <a:spcPct val="150000"/>
                  </a:lnSpc>
                  <a:buFont typeface="Wingdings" pitchFamily="2" charset="2"/>
                  <a:buChar char="p"/>
                </a:pPr>
                <a:r>
                  <a:rPr kumimoji="1" lang="en-US" altLang="zh-CN" sz="2000" dirty="0">
                    <a:latin typeface="Helvetica" pitchFamily="2" charset="0"/>
                  </a:rPr>
                  <a:t>Too small → weak constraint disrupts identifier structure; too large → recommendation loss cannot supervise</a:t>
                </a:r>
              </a:p>
              <a:p>
                <a:pPr marL="914400" lvl="1" indent="-457200">
                  <a:lnSpc>
                    <a:spcPct val="150000"/>
                  </a:lnSpc>
                  <a:buFont typeface="Wingdings" pitchFamily="2" charset="2"/>
                  <a:buChar char="p"/>
                </a:pPr>
                <a14:m>
                  <m:oMath xmlns:m="http://schemas.openxmlformats.org/officeDocument/2006/math">
                    <m:r>
                      <a:rPr kumimoji="1" lang="en-US" altLang="zh-CN" sz="2000" b="1" i="1" dirty="0" smtClean="0">
                        <a:solidFill>
                          <a:srgbClr val="C00000"/>
                        </a:solidFill>
                        <a:latin typeface="Cambria Math" panose="02040503050406030204" pitchFamily="18" charset="0"/>
                      </a:rPr>
                      <m:t>𝝀</m:t>
                    </m:r>
                    <m:r>
                      <a:rPr kumimoji="1" lang="en-US" altLang="zh-CN" sz="2000" b="1" i="1" dirty="0" smtClean="0">
                        <a:solidFill>
                          <a:srgbClr val="C00000"/>
                        </a:solidFill>
                        <a:latin typeface="Cambria Math" panose="02040503050406030204" pitchFamily="18" charset="0"/>
                      </a:rPr>
                      <m:t> = </m:t>
                    </m:r>
                    <m:r>
                      <a:rPr kumimoji="1" lang="en-US" altLang="zh-CN" sz="2000" b="1" i="1" dirty="0" smtClean="0">
                        <a:solidFill>
                          <a:srgbClr val="C00000"/>
                        </a:solidFill>
                        <a:latin typeface="Cambria Math" panose="02040503050406030204" pitchFamily="18" charset="0"/>
                      </a:rPr>
                      <m:t>𝟎</m:t>
                    </m:r>
                    <m:r>
                      <a:rPr kumimoji="1" lang="en-US" altLang="zh-CN" sz="2000" b="1" i="1" dirty="0" smtClean="0">
                        <a:solidFill>
                          <a:srgbClr val="C00000"/>
                        </a:solidFill>
                        <a:latin typeface="Cambria Math" panose="02040503050406030204" pitchFamily="18" charset="0"/>
                      </a:rPr>
                      <m:t>.</m:t>
                    </m:r>
                    <m:r>
                      <a:rPr kumimoji="1" lang="en-US" altLang="zh-CN" sz="2000" b="1" i="1" dirty="0" smtClean="0">
                        <a:solidFill>
                          <a:srgbClr val="C00000"/>
                        </a:solidFill>
                        <a:latin typeface="Cambria Math" panose="02040503050406030204" pitchFamily="18" charset="0"/>
                      </a:rPr>
                      <m:t>𝟓</m:t>
                    </m:r>
                    <m:r>
                      <a:rPr kumimoji="1" lang="en-US" altLang="zh-CN" sz="2000" i="1" dirty="0">
                        <a:latin typeface="Cambria Math" panose="02040503050406030204" pitchFamily="18" charset="0"/>
                      </a:rPr>
                      <m:t> </m:t>
                    </m:r>
                  </m:oMath>
                </a14:m>
                <a:r>
                  <a:rPr kumimoji="1" lang="en-US" altLang="zh-CN" sz="2000" dirty="0">
                    <a:latin typeface="Helvetica" pitchFamily="2" charset="0"/>
                  </a:rPr>
                  <a:t>strikes the best balance</a:t>
                </a:r>
              </a:p>
              <a:p>
                <a:pPr marL="457200" indent="-457200">
                  <a:lnSpc>
                    <a:spcPct val="150000"/>
                  </a:lnSpc>
                  <a:buFont typeface="Wingdings" pitchFamily="2" charset="2"/>
                  <a:buChar char="p"/>
                </a:pPr>
                <a:r>
                  <a:rPr kumimoji="1" lang="en-US" altLang="zh-CN" sz="2000" b="1" dirty="0">
                    <a:solidFill>
                      <a:srgbClr val="002060"/>
                    </a:solidFill>
                    <a:latin typeface="Helvetica" pitchFamily="2" charset="0"/>
                  </a:rPr>
                  <a:t>Update frequency </a:t>
                </a:r>
                <a14:m>
                  <m:oMath xmlns:m="http://schemas.openxmlformats.org/officeDocument/2006/math">
                    <m:r>
                      <a:rPr kumimoji="1" lang="en-US" altLang="zh-CN" sz="2000" b="1" i="1" dirty="0" smtClean="0">
                        <a:solidFill>
                          <a:srgbClr val="002060"/>
                        </a:solidFill>
                        <a:latin typeface="Cambria Math" panose="02040503050406030204" pitchFamily="18" charset="0"/>
                      </a:rPr>
                      <m:t>𝑴</m:t>
                    </m:r>
                    <m:r>
                      <a:rPr kumimoji="1" lang="en-US" altLang="zh-CN" sz="2000" b="1" i="1" dirty="0" smtClean="0">
                        <a:solidFill>
                          <a:srgbClr val="002060"/>
                        </a:solidFill>
                        <a:latin typeface="Cambria Math" panose="02040503050406030204" pitchFamily="18" charset="0"/>
                      </a:rPr>
                      <m:t>′</m:t>
                    </m:r>
                    <m:r>
                      <a:rPr kumimoji="1" lang="en-US" altLang="zh-CN" sz="2000" i="1" dirty="0">
                        <a:latin typeface="Cambria Math" panose="02040503050406030204" pitchFamily="18" charset="0"/>
                      </a:rPr>
                      <m:t> </m:t>
                    </m:r>
                  </m:oMath>
                </a14:m>
                <a:r>
                  <a:rPr kumimoji="1" lang="en-US" altLang="zh-CN" sz="2000" dirty="0">
                    <a:latin typeface="Helvetica" pitchFamily="2" charset="0"/>
                  </a:rPr>
                  <a:t>of the tokenizer is stable for </a:t>
                </a:r>
                <a14:m>
                  <m:oMath xmlns:m="http://schemas.openxmlformats.org/officeDocument/2006/math">
                    <m:r>
                      <a:rPr kumimoji="1" lang="en-US" altLang="zh-CN" sz="2000" b="1" i="1" dirty="0" smtClean="0">
                        <a:solidFill>
                          <a:srgbClr val="C00000"/>
                        </a:solidFill>
                        <a:latin typeface="Cambria Math" panose="02040503050406030204" pitchFamily="18" charset="0"/>
                      </a:rPr>
                      <m:t>𝑴</m:t>
                    </m:r>
                    <m:r>
                      <a:rPr kumimoji="1" lang="en-US" altLang="zh-CN" sz="2000" b="1" i="1" dirty="0" smtClean="0">
                        <a:solidFill>
                          <a:srgbClr val="C00000"/>
                        </a:solidFill>
                        <a:latin typeface="Cambria Math" panose="02040503050406030204" pitchFamily="18" charset="0"/>
                      </a:rPr>
                      <m:t>′ ∈ [</m:t>
                    </m:r>
                    <m:r>
                      <a:rPr kumimoji="1" lang="en-US" altLang="zh-CN" sz="2000" b="1" i="1" dirty="0" smtClean="0">
                        <a:solidFill>
                          <a:srgbClr val="C00000"/>
                        </a:solidFill>
                        <a:latin typeface="Cambria Math" panose="02040503050406030204" pitchFamily="18" charset="0"/>
                      </a:rPr>
                      <m:t>𝟏</m:t>
                    </m:r>
                    <m:r>
                      <a:rPr kumimoji="1" lang="en-US" altLang="zh-CN" sz="2000" b="1" i="1" dirty="0" smtClean="0">
                        <a:solidFill>
                          <a:srgbClr val="C00000"/>
                        </a:solidFill>
                        <a:latin typeface="Cambria Math" panose="02040503050406030204" pitchFamily="18" charset="0"/>
                      </a:rPr>
                      <m:t>, </m:t>
                    </m:r>
                    <m:r>
                      <a:rPr kumimoji="1" lang="en-US" altLang="zh-CN" sz="2000" b="1" i="1" dirty="0" smtClean="0">
                        <a:solidFill>
                          <a:srgbClr val="C00000"/>
                        </a:solidFill>
                        <a:latin typeface="Cambria Math" panose="02040503050406030204" pitchFamily="18" charset="0"/>
                      </a:rPr>
                      <m:t>𝟒</m:t>
                    </m:r>
                    <m:r>
                      <a:rPr kumimoji="1" lang="en-US" altLang="zh-CN" sz="2000" b="1" i="1" dirty="0" smtClean="0">
                        <a:solidFill>
                          <a:srgbClr val="C00000"/>
                        </a:solidFill>
                        <a:latin typeface="Cambria Math" panose="02040503050406030204" pitchFamily="18" charset="0"/>
                      </a:rPr>
                      <m:t>]</m:t>
                    </m:r>
                  </m:oMath>
                </a14:m>
                <a:endParaRPr kumimoji="1" lang="en-US" altLang="zh-CN" sz="2000" dirty="0">
                  <a:latin typeface="Helvetica" pitchFamily="2" charset="0"/>
                </a:endParaRPr>
              </a:p>
              <a:p>
                <a:pPr marL="914400" lvl="1" indent="-457200">
                  <a:lnSpc>
                    <a:spcPct val="150000"/>
                  </a:lnSpc>
                  <a:buFont typeface="Wingdings" pitchFamily="2" charset="2"/>
                  <a:buChar char="p"/>
                </a:pPr>
                <a:r>
                  <a:rPr kumimoji="1" lang="en-US" altLang="zh-CN" sz="2000" dirty="0">
                    <a:latin typeface="Helvetica" pitchFamily="2" charset="0"/>
                  </a:rPr>
                  <a:t>Too frequent → recommender under-optimized → unreliable meta-gradients</a:t>
                </a:r>
              </a:p>
            </p:txBody>
          </p:sp>
        </mc:Choice>
        <mc:Fallback xmlns="">
          <p:sp>
            <p:nvSpPr>
              <p:cNvPr id="4" name="正文"/>
              <p:cNvSpPr txBox="1">
                <a:spLocks noRot="1" noChangeAspect="1" noMove="1" noResize="1" noEditPoints="1" noAdjustHandles="1" noChangeArrowheads="1" noChangeShapeType="1" noTextEdit="1"/>
              </p:cNvSpPr>
              <p:nvPr/>
            </p:nvSpPr>
            <p:spPr>
              <a:xfrm>
                <a:off x="631811" y="1800107"/>
                <a:ext cx="10900000" cy="2815258"/>
              </a:xfrm>
              <a:prstGeom prst="rect">
                <a:avLst/>
              </a:prstGeom>
              <a:blipFill>
                <a:blip r:embed="rId3"/>
                <a:stretch>
                  <a:fillRect l="-465" r="-116" b="-3139"/>
                </a:stretch>
              </a:blipFill>
            </p:spPr>
            <p:txBody>
              <a:bodyPr/>
              <a:lstStyle/>
              <a:p>
                <a:r>
                  <a:rPr lang="zh-CN" altLang="en-US">
                    <a:noFill/>
                  </a:rPr>
                  <a:t> </a:t>
                </a:r>
              </a:p>
            </p:txBody>
          </p:sp>
        </mc:Fallback>
      </mc:AlternateContent>
      <p:pic>
        <p:nvPicPr>
          <p:cNvPr id="9" name="图片 9"/>
          <p:cNvPicPr>
            <a:picLocks noChangeAspect="1"/>
          </p:cNvPicPr>
          <p:nvPr/>
        </p:nvPicPr>
        <p:blipFill>
          <a:blip r:embed="rId4"/>
          <a:stretch>
            <a:fillRect/>
          </a:stretch>
        </p:blipFill>
        <p:spPr>
          <a:xfrm>
            <a:off x="3600000" y="4750000"/>
            <a:ext cx="5000000" cy="1783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Experiment</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Time Efficiency (RQ4)</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17/20</a:t>
            </a:r>
          </a:p>
        </p:txBody>
      </p:sp>
      <p:sp>
        <p:nvSpPr>
          <p:cNvPr id="4" name="正文"/>
          <p:cNvSpPr txBox="1"/>
          <p:nvPr/>
        </p:nvSpPr>
        <p:spPr>
          <a:xfrm>
            <a:off x="631811" y="1800107"/>
            <a:ext cx="10900000" cy="1400000"/>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Average per-epoch training / testing time vs. TIGER on identical NVIDIA RTX 3090</a:t>
            </a:r>
          </a:p>
        </p:txBody>
      </p:sp>
      <p:graphicFrame>
        <p:nvGraphicFramePr>
          <p:cNvPr id="23" name="表格 23"/>
          <p:cNvGraphicFramePr/>
          <p:nvPr>
            <p:extLst>
              <p:ext uri="{D42A27DB-BD31-4B8C-83A1-F6EECF244321}">
                <p14:modId xmlns:p14="http://schemas.microsoft.com/office/powerpoint/2010/main" val="1991367584"/>
              </p:ext>
            </p:extLst>
          </p:nvPr>
        </p:nvGraphicFramePr>
        <p:xfrm>
          <a:off x="1881811" y="2795163"/>
          <a:ext cx="8400000" cy="1410000"/>
        </p:xfrm>
        <a:graphic>
          <a:graphicData uri="http://schemas.openxmlformats.org/drawingml/2006/table">
            <a:tbl>
              <a:tblPr firstRow="1" bandRow="1">
                <a:tableStyleId>{5C22544A-7EE6-4342-B048-85BDC9FD1C3A}</a:tableStyleId>
              </a:tblPr>
              <a:tblGrid>
                <a:gridCol w="2600000">
                  <a:extLst>
                    <a:ext uri="{9D8B030D-6E8A-4147-A177-3AD203B41FA5}">
                      <a16:colId xmlns:a16="http://schemas.microsoft.com/office/drawing/2014/main" val="20000"/>
                    </a:ext>
                  </a:extLst>
                </a:gridCol>
                <a:gridCol w="2900000">
                  <a:extLst>
                    <a:ext uri="{9D8B030D-6E8A-4147-A177-3AD203B41FA5}">
                      <a16:colId xmlns:a16="http://schemas.microsoft.com/office/drawing/2014/main" val="20001"/>
                    </a:ext>
                  </a:extLst>
                </a:gridCol>
                <a:gridCol w="2900000">
                  <a:extLst>
                    <a:ext uri="{9D8B030D-6E8A-4147-A177-3AD203B41FA5}">
                      <a16:colId xmlns:a16="http://schemas.microsoft.com/office/drawing/2014/main" val="20002"/>
                    </a:ext>
                  </a:extLst>
                </a:gridCol>
              </a:tblGrid>
              <a:tr h="470000">
                <a:tc>
                  <a:txBody>
                    <a:bodyPr/>
                    <a:lstStyle/>
                    <a:p>
                      <a:pPr algn="ctr"/>
                      <a:r>
                        <a:rPr lang="en-US" altLang="zh-CN" sz="1800" b="1" dirty="0">
                          <a:solidFill>
                            <a:srgbClr val="FFFFFF"/>
                          </a:solidFill>
                          <a:latin typeface="Helvetica" pitchFamily="2" charset="0"/>
                        </a:rPr>
                        <a:t>Method</a:t>
                      </a:r>
                    </a:p>
                  </a:txBody>
                  <a:tcPr marL="27432" marR="27432" marT="9144" marB="9144" anchor="ctr">
                    <a:solidFill>
                      <a:srgbClr val="002060"/>
                    </a:solidFill>
                  </a:tcPr>
                </a:tc>
                <a:tc>
                  <a:txBody>
                    <a:bodyPr/>
                    <a:lstStyle/>
                    <a:p>
                      <a:pPr algn="ctr"/>
                      <a:r>
                        <a:rPr lang="en-US" altLang="zh-CN" sz="1800" b="1" dirty="0">
                          <a:solidFill>
                            <a:srgbClr val="FFFFFF"/>
                          </a:solidFill>
                          <a:latin typeface="Helvetica" pitchFamily="2" charset="0"/>
                        </a:rPr>
                        <a:t>Train (s/epoch)</a:t>
                      </a:r>
                    </a:p>
                  </a:txBody>
                  <a:tcPr marL="27432" marR="27432" marT="9144" marB="9144" anchor="ctr">
                    <a:solidFill>
                      <a:srgbClr val="002060"/>
                    </a:solidFill>
                  </a:tcPr>
                </a:tc>
                <a:tc>
                  <a:txBody>
                    <a:bodyPr/>
                    <a:lstStyle/>
                    <a:p>
                      <a:pPr algn="ctr"/>
                      <a:r>
                        <a:rPr lang="en-US" altLang="zh-CN" sz="1800" b="1" dirty="0">
                          <a:solidFill>
                            <a:srgbClr val="FFFFFF"/>
                          </a:solidFill>
                          <a:latin typeface="Helvetica" pitchFamily="2" charset="0"/>
                        </a:rPr>
                        <a:t>Test (s/epoch)</a:t>
                      </a:r>
                    </a:p>
                  </a:txBody>
                  <a:tcPr marL="27432" marR="27432" marT="9144" marB="9144" anchor="ctr">
                    <a:solidFill>
                      <a:srgbClr val="002060"/>
                    </a:solidFill>
                  </a:tcPr>
                </a:tc>
                <a:extLst>
                  <a:ext uri="{0D108BD9-81ED-4DB2-BD59-A6C34878D82A}">
                    <a16:rowId xmlns:a16="http://schemas.microsoft.com/office/drawing/2014/main" val="10000"/>
                  </a:ext>
                </a:extLst>
              </a:tr>
              <a:tr h="470000">
                <a:tc>
                  <a:txBody>
                    <a:bodyPr/>
                    <a:lstStyle/>
                    <a:p>
                      <a:pPr algn="ctr"/>
                      <a:r>
                        <a:rPr lang="en-US" altLang="zh-CN" sz="1800" dirty="0">
                          <a:latin typeface="Helvetica" pitchFamily="2" charset="0"/>
                        </a:rPr>
                        <a:t>TIGER</a:t>
                      </a:r>
                    </a:p>
                  </a:txBody>
                  <a:tcPr marL="27432" marR="27432" marT="9144" marB="9144" anchor="ctr">
                    <a:noFill/>
                  </a:tcPr>
                </a:tc>
                <a:tc>
                  <a:txBody>
                    <a:bodyPr/>
                    <a:lstStyle/>
                    <a:p>
                      <a:pPr algn="ctr"/>
                      <a:r>
                        <a:rPr lang="en-US" altLang="zh-CN" sz="1800" dirty="0">
                          <a:latin typeface="Helvetica" pitchFamily="2" charset="0"/>
                        </a:rPr>
                        <a:t>23.7</a:t>
                      </a:r>
                    </a:p>
                  </a:txBody>
                  <a:tcPr marL="27432" marR="27432" marT="9144" marB="9144" anchor="ctr">
                    <a:noFill/>
                  </a:tcPr>
                </a:tc>
                <a:tc>
                  <a:txBody>
                    <a:bodyPr/>
                    <a:lstStyle/>
                    <a:p>
                      <a:pPr algn="ctr"/>
                      <a:r>
                        <a:rPr lang="en-US" altLang="zh-CN" sz="1800" dirty="0">
                          <a:latin typeface="Helvetica" pitchFamily="2" charset="0"/>
                        </a:rPr>
                        <a:t>66.7</a:t>
                      </a:r>
                    </a:p>
                  </a:txBody>
                  <a:tcPr marL="27432" marR="27432" marT="9144" marB="9144" anchor="ctr">
                    <a:noFill/>
                  </a:tcPr>
                </a:tc>
                <a:extLst>
                  <a:ext uri="{0D108BD9-81ED-4DB2-BD59-A6C34878D82A}">
                    <a16:rowId xmlns:a16="http://schemas.microsoft.com/office/drawing/2014/main" val="10001"/>
                  </a:ext>
                </a:extLst>
              </a:tr>
              <a:tr h="470000">
                <a:tc>
                  <a:txBody>
                    <a:bodyPr/>
                    <a:lstStyle/>
                    <a:p>
                      <a:pPr algn="ctr"/>
                      <a:r>
                        <a:rPr lang="en-US" altLang="zh-CN" sz="1800" b="1" dirty="0">
                          <a:solidFill>
                            <a:srgbClr val="002060"/>
                          </a:solidFill>
                          <a:latin typeface="Helvetica" pitchFamily="2" charset="0"/>
                        </a:rPr>
                        <a:t>BLOGER</a:t>
                      </a:r>
                    </a:p>
                  </a:txBody>
                  <a:tcPr marL="27432" marR="27432" marT="9144" marB="9144" anchor="ctr">
                    <a:noFill/>
                  </a:tcPr>
                </a:tc>
                <a:tc>
                  <a:txBody>
                    <a:bodyPr/>
                    <a:lstStyle/>
                    <a:p>
                      <a:pPr algn="ctr"/>
                      <a:r>
                        <a:rPr lang="en-US" altLang="zh-CN" sz="1800" b="1" dirty="0">
                          <a:solidFill>
                            <a:srgbClr val="002060"/>
                          </a:solidFill>
                          <a:latin typeface="Helvetica" pitchFamily="2" charset="0"/>
                        </a:rPr>
                        <a:t>26.6</a:t>
                      </a:r>
                    </a:p>
                  </a:txBody>
                  <a:tcPr marL="27432" marR="27432" marT="9144" marB="9144" anchor="ctr">
                    <a:noFill/>
                  </a:tcPr>
                </a:tc>
                <a:tc>
                  <a:txBody>
                    <a:bodyPr/>
                    <a:lstStyle/>
                    <a:p>
                      <a:pPr algn="ctr"/>
                      <a:r>
                        <a:rPr lang="en-US" altLang="zh-CN" sz="1800" b="1" dirty="0">
                          <a:solidFill>
                            <a:srgbClr val="002060"/>
                          </a:solidFill>
                          <a:latin typeface="Helvetica" pitchFamily="2" charset="0"/>
                        </a:rPr>
                        <a:t>66.9</a:t>
                      </a:r>
                    </a:p>
                  </a:txBody>
                  <a:tcPr marL="27432" marR="27432" marT="9144" marB="9144" anchor="ctr">
                    <a:noFill/>
                  </a:tcPr>
                </a:tc>
                <a:extLst>
                  <a:ext uri="{0D108BD9-81ED-4DB2-BD59-A6C34878D82A}">
                    <a16:rowId xmlns:a16="http://schemas.microsoft.com/office/drawing/2014/main" val="10002"/>
                  </a:ext>
                </a:extLst>
              </a:tr>
            </a:tbl>
          </a:graphicData>
        </a:graphic>
      </p:graphicFrame>
      <p:sp>
        <p:nvSpPr>
          <p:cNvPr id="32" name="正文"/>
          <p:cNvSpPr txBox="1"/>
          <p:nvPr/>
        </p:nvSpPr>
        <p:spPr>
          <a:xfrm>
            <a:off x="646000" y="4550219"/>
            <a:ext cx="10900000" cy="1300000"/>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000" dirty="0">
                <a:latin typeface="Helvetica" pitchFamily="2" charset="0"/>
              </a:rPr>
              <a:t>Slight training increase, </a:t>
            </a:r>
            <a:r>
              <a:rPr kumimoji="1" lang="en-US" altLang="zh-CN" sz="2000" b="1" dirty="0">
                <a:solidFill>
                  <a:srgbClr val="C00000"/>
                </a:solidFill>
                <a:latin typeface="Helvetica" pitchFamily="2" charset="0"/>
              </a:rPr>
              <a:t>near-identical inference cost</a:t>
            </a:r>
          </a:p>
          <a:p>
            <a:pPr marL="457200" indent="-457200">
              <a:lnSpc>
                <a:spcPct val="150000"/>
              </a:lnSpc>
              <a:buFont typeface="Wingdings" pitchFamily="2" charset="2"/>
              <a:buChar char="p"/>
            </a:pPr>
            <a:r>
              <a:rPr kumimoji="1" lang="en-US" altLang="zh-CN" sz="2000" dirty="0">
                <a:latin typeface="Helvetica" pitchFamily="2" charset="0"/>
              </a:rPr>
              <a:t>Bi-level optimization adds minimal overhead — confirms the complexity analysis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Experiment</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Codebook Utilization Analysis (RQ5)</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18/20</a:t>
            </a:r>
          </a:p>
        </p:txBody>
      </p:sp>
      <p:sp>
        <p:nvSpPr>
          <p:cNvPr id="4" name="正文"/>
          <p:cNvSpPr txBox="1"/>
          <p:nvPr/>
        </p:nvSpPr>
        <p:spPr>
          <a:xfrm>
            <a:off x="631810" y="1800107"/>
            <a:ext cx="7023688" cy="4017959"/>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400" dirty="0">
                <a:latin typeface="Helvetica" pitchFamily="2" charset="0"/>
              </a:rPr>
              <a:t>Analyze first-level codebook utilization on Beauty (TIGER vs. BLOGER)</a:t>
            </a:r>
          </a:p>
          <a:p>
            <a:pPr marL="914400" lvl="1" indent="-457200">
              <a:lnSpc>
                <a:spcPct val="150000"/>
              </a:lnSpc>
              <a:buFont typeface="Wingdings" pitchFamily="2" charset="2"/>
              <a:buChar char="p"/>
            </a:pPr>
            <a:r>
              <a:rPr kumimoji="1" lang="en-US" altLang="zh-CN" sz="2000" b="1" dirty="0">
                <a:solidFill>
                  <a:srgbClr val="C00000"/>
                </a:solidFill>
                <a:latin typeface="Helvetica" pitchFamily="2" charset="0"/>
              </a:rPr>
              <a:t>Density 47% → 65%</a:t>
            </a:r>
            <a:r>
              <a:rPr kumimoji="1" lang="en-US" altLang="zh-CN" sz="2000" dirty="0">
                <a:latin typeface="Helvetica" pitchFamily="2" charset="0"/>
              </a:rPr>
              <a:t>,  Entropy 6.05 → 7.14</a:t>
            </a:r>
          </a:p>
          <a:p>
            <a:pPr marL="914400" lvl="1" indent="-457200">
              <a:lnSpc>
                <a:spcPct val="150000"/>
              </a:lnSpc>
              <a:buFont typeface="Wingdings" pitchFamily="2" charset="2"/>
              <a:buChar char="p"/>
            </a:pPr>
            <a:r>
              <a:rPr kumimoji="1" lang="en-US" altLang="zh-CN" sz="2000" dirty="0">
                <a:latin typeface="Helvetica" pitchFamily="2" charset="0"/>
              </a:rPr>
              <a:t>First level carries most information (residual op); higher levels differ little</a:t>
            </a:r>
          </a:p>
          <a:p>
            <a:pPr marL="457200" indent="-457200">
              <a:lnSpc>
                <a:spcPct val="150000"/>
              </a:lnSpc>
              <a:buFont typeface="Wingdings" pitchFamily="2" charset="2"/>
              <a:buChar char="p"/>
            </a:pPr>
            <a:r>
              <a:rPr kumimoji="1" lang="en-US" altLang="zh-CN" sz="2400" b="1" dirty="0">
                <a:solidFill>
                  <a:srgbClr val="002060"/>
                </a:solidFill>
                <a:latin typeface="Helvetica" pitchFamily="2" charset="0"/>
              </a:rPr>
              <a:t>Recommendation loss acts like a compass</a:t>
            </a:r>
            <a:r>
              <a:rPr kumimoji="1" lang="en-US" altLang="zh-CN" sz="2400" dirty="0">
                <a:latin typeface="Helvetica" pitchFamily="2" charset="0"/>
              </a:rPr>
              <a:t> </a:t>
            </a:r>
          </a:p>
          <a:p>
            <a:pPr marL="914400" lvl="1" indent="-457200">
              <a:lnSpc>
                <a:spcPct val="150000"/>
              </a:lnSpc>
              <a:buFont typeface="Wingdings" pitchFamily="2" charset="2"/>
              <a:buChar char="p"/>
            </a:pPr>
            <a:r>
              <a:rPr kumimoji="1" lang="en-US" altLang="zh-CN" sz="2000" dirty="0">
                <a:latin typeface="Helvetica" pitchFamily="2" charset="0"/>
              </a:rPr>
              <a:t>It reveals hidden collaborative signals, correcting text-only bias</a:t>
            </a:r>
          </a:p>
        </p:txBody>
      </p:sp>
      <p:pic>
        <p:nvPicPr>
          <p:cNvPr id="10" name="图片 10"/>
          <p:cNvPicPr>
            <a:picLocks noChangeAspect="1"/>
          </p:cNvPicPr>
          <p:nvPr/>
        </p:nvPicPr>
        <p:blipFill>
          <a:blip r:embed="rId3"/>
          <a:srcRect r="46987"/>
          <a:stretch>
            <a:fillRect/>
          </a:stretch>
        </p:blipFill>
        <p:spPr>
          <a:xfrm>
            <a:off x="7655498" y="1598653"/>
            <a:ext cx="3261401" cy="2616967"/>
          </a:xfrm>
          <a:prstGeom prst="rect">
            <a:avLst/>
          </a:prstGeom>
        </p:spPr>
      </p:pic>
      <p:pic>
        <p:nvPicPr>
          <p:cNvPr id="5" name="图片 10">
            <a:extLst>
              <a:ext uri="{FF2B5EF4-FFF2-40B4-BE49-F238E27FC236}">
                <a16:creationId xmlns:a16="http://schemas.microsoft.com/office/drawing/2014/main" id="{5AAB52C6-2979-31F1-7675-C2E97BD14E17}"/>
              </a:ext>
            </a:extLst>
          </p:cNvPr>
          <p:cNvPicPr>
            <a:picLocks noChangeAspect="1"/>
          </p:cNvPicPr>
          <p:nvPr/>
        </p:nvPicPr>
        <p:blipFill>
          <a:blip r:embed="rId3"/>
          <a:srcRect l="53373"/>
          <a:stretch>
            <a:fillRect/>
          </a:stretch>
        </p:blipFill>
        <p:spPr>
          <a:xfrm>
            <a:off x="8232489" y="4034849"/>
            <a:ext cx="2684410" cy="24489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txBox="1"/>
          <p:nvPr/>
        </p:nvSpPr>
        <p:spPr>
          <a:xfrm>
            <a:off x="0" y="182881"/>
            <a:ext cx="12192000" cy="707886"/>
          </a:xfrm>
          <a:prstGeom prst="rect">
            <a:avLst/>
          </a:prstGeom>
          <a:noFill/>
        </p:spPr>
        <p:txBody>
          <a:bodyPr wrap="square" rtlCol="0">
            <a:spAutoFit/>
          </a:bodyPr>
          <a:lstStyle/>
          <a:p>
            <a:r>
              <a:rPr kumimoji="1" lang="zh-CN" altLang="en-US" sz="4000" b="1" dirty="0">
                <a:latin typeface="Helvetica" pitchFamily="2" charset="0"/>
              </a:rPr>
              <a:t>  </a:t>
            </a:r>
            <a:r>
              <a:rPr kumimoji="1" lang="en-US" altLang="zh-CN" sz="4000" b="1" dirty="0">
                <a:latin typeface="Helvetica" pitchFamily="2" charset="0"/>
              </a:rPr>
              <a:t>Conclusion</a:t>
            </a:r>
          </a:p>
        </p:txBody>
      </p:sp>
      <p:sp>
        <p:nvSpPr>
          <p:cNvPr id="3" name="副标题"/>
          <p:cNvSpPr txBox="1"/>
          <p:nvPr/>
        </p:nvSpPr>
        <p:spPr>
          <a:xfrm>
            <a:off x="285135" y="890767"/>
            <a:ext cx="11000000" cy="759503"/>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3200" b="1" dirty="0">
                <a:latin typeface="Helvetica" pitchFamily="2" charset="0"/>
              </a:rPr>
              <a:t> Summary</a:t>
            </a:r>
          </a:p>
        </p:txBody>
      </p:sp>
      <p:sp>
        <p:nvSpPr>
          <p:cNvPr id="90" name="页码"/>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19/20</a:t>
            </a:r>
          </a:p>
        </p:txBody>
      </p:sp>
      <p:sp>
        <p:nvSpPr>
          <p:cNvPr id="4" name="正文"/>
          <p:cNvSpPr txBox="1"/>
          <p:nvPr/>
        </p:nvSpPr>
        <p:spPr>
          <a:xfrm>
            <a:off x="631810" y="1800107"/>
            <a:ext cx="11332301" cy="4193777"/>
          </a:xfrm>
          <a:prstGeom prst="rect">
            <a:avLst/>
          </a:prstGeom>
          <a:noFill/>
        </p:spPr>
        <p:txBody>
          <a:bodyPr wrap="square" rtlCol="0">
            <a:spAutoFit/>
          </a:bodyPr>
          <a:lstStyle/>
          <a:p>
            <a:pPr marL="457200" indent="-457200">
              <a:lnSpc>
                <a:spcPct val="150000"/>
              </a:lnSpc>
              <a:buFont typeface="Wingdings" pitchFamily="2" charset="2"/>
              <a:buChar char="p"/>
            </a:pPr>
            <a:r>
              <a:rPr kumimoji="1" lang="en-US" altLang="zh-CN" sz="2400" dirty="0">
                <a:latin typeface="Helvetica" pitchFamily="2" charset="0"/>
              </a:rPr>
              <a:t>Reformulated generative recommendation as a </a:t>
            </a:r>
            <a:r>
              <a:rPr kumimoji="1" lang="en-US" altLang="zh-CN" sz="2400" b="1" dirty="0">
                <a:solidFill>
                  <a:srgbClr val="002060"/>
                </a:solidFill>
                <a:latin typeface="Helvetica" pitchFamily="2" charset="0"/>
              </a:rPr>
              <a:t>bi-level optimization</a:t>
            </a:r>
            <a:r>
              <a:rPr kumimoji="1" lang="en-US" altLang="zh-CN" sz="2400" dirty="0">
                <a:latin typeface="Helvetica" pitchFamily="2" charset="0"/>
              </a:rPr>
              <a:t> problem</a:t>
            </a:r>
          </a:p>
          <a:p>
            <a:pPr marL="914400" lvl="1" indent="-457200">
              <a:lnSpc>
                <a:spcPct val="150000"/>
              </a:lnSpc>
              <a:buFont typeface="Wingdings" pitchFamily="2" charset="2"/>
              <a:buChar char="p"/>
            </a:pPr>
            <a:r>
              <a:rPr kumimoji="1" lang="en-US" altLang="zh-CN" sz="2000" dirty="0">
                <a:latin typeface="Helvetica" pitchFamily="2" charset="0"/>
              </a:rPr>
              <a:t>Explicitly captures the interdependence between tokenizer and recommender</a:t>
            </a:r>
          </a:p>
          <a:p>
            <a:pPr marL="457200" indent="-457200">
              <a:lnSpc>
                <a:spcPct val="150000"/>
              </a:lnSpc>
              <a:buFont typeface="Wingdings" pitchFamily="2" charset="2"/>
              <a:buChar char="p"/>
            </a:pPr>
            <a:r>
              <a:rPr kumimoji="1" lang="en-US" altLang="zh-CN" sz="2400" dirty="0">
                <a:latin typeface="Helvetica" pitchFamily="2" charset="0"/>
              </a:rPr>
              <a:t>BLOGER solves it efficiently via </a:t>
            </a:r>
            <a:r>
              <a:rPr kumimoji="1" lang="en-US" altLang="zh-CN" sz="2400" b="1" dirty="0">
                <a:solidFill>
                  <a:srgbClr val="002060"/>
                </a:solidFill>
                <a:latin typeface="Helvetica" pitchFamily="2" charset="0"/>
              </a:rPr>
              <a:t>meta-learning</a:t>
            </a:r>
            <a:r>
              <a:rPr kumimoji="1" lang="en-US" altLang="zh-CN" sz="2400" dirty="0">
                <a:latin typeface="Helvetica" pitchFamily="2" charset="0"/>
              </a:rPr>
              <a:t> + </a:t>
            </a:r>
            <a:r>
              <a:rPr kumimoji="1" lang="en-US" altLang="zh-CN" sz="2400" b="1" dirty="0">
                <a:solidFill>
                  <a:srgbClr val="002060"/>
                </a:solidFill>
                <a:latin typeface="Helvetica" pitchFamily="2" charset="0"/>
              </a:rPr>
              <a:t>gradient surgery</a:t>
            </a:r>
          </a:p>
          <a:p>
            <a:pPr marL="914400" lvl="1" indent="-457200">
              <a:lnSpc>
                <a:spcPct val="150000"/>
              </a:lnSpc>
              <a:buFont typeface="Wingdings" pitchFamily="2" charset="2"/>
              <a:buChar char="p"/>
            </a:pPr>
            <a:r>
              <a:rPr kumimoji="1" lang="en-US" altLang="zh-CN" sz="2000" dirty="0">
                <a:latin typeface="Helvetica" pitchFamily="2" charset="0"/>
              </a:rPr>
              <a:t>Recommendation loss directly aligns tokenization with the downstream objective</a:t>
            </a:r>
          </a:p>
          <a:p>
            <a:pPr marL="914400" lvl="1" indent="-457200">
              <a:lnSpc>
                <a:spcPct val="150000"/>
              </a:lnSpc>
              <a:buFont typeface="Wingdings" pitchFamily="2" charset="2"/>
              <a:buChar char="p"/>
            </a:pPr>
            <a:r>
              <a:rPr kumimoji="1" lang="en-US" altLang="zh-CN" sz="2000" b="1" dirty="0">
                <a:solidFill>
                  <a:srgbClr val="C00000"/>
                </a:solidFill>
                <a:latin typeface="Helvetica" pitchFamily="2" charset="0"/>
              </a:rPr>
              <a:t>No significant additional computational overhead</a:t>
            </a:r>
          </a:p>
          <a:p>
            <a:pPr marL="457200" indent="-457200">
              <a:lnSpc>
                <a:spcPct val="150000"/>
              </a:lnSpc>
              <a:buFont typeface="Wingdings" pitchFamily="2" charset="2"/>
              <a:buChar char="p"/>
            </a:pPr>
            <a:r>
              <a:rPr kumimoji="1" lang="en-US" altLang="zh-CN" sz="2400" b="1" dirty="0">
                <a:solidFill>
                  <a:srgbClr val="002060"/>
                </a:solidFill>
                <a:latin typeface="Helvetica" pitchFamily="2" charset="0"/>
              </a:rPr>
              <a:t>Gradient surgery is critical</a:t>
            </a:r>
            <a:r>
              <a:rPr kumimoji="1" lang="en-US" altLang="zh-CN" sz="2400" dirty="0">
                <a:latin typeface="Helvetica" pitchFamily="2" charset="0"/>
              </a:rPr>
              <a:t> — up to 90% of parameter groups exhibit gradient conflict</a:t>
            </a:r>
          </a:p>
          <a:p>
            <a:pPr marL="457200" indent="-457200">
              <a:lnSpc>
                <a:spcPct val="150000"/>
              </a:lnSpc>
              <a:buFont typeface="Wingdings" pitchFamily="2" charset="2"/>
              <a:buChar char="p"/>
            </a:pPr>
            <a:r>
              <a:rPr kumimoji="1" lang="en-US" altLang="zh-CN" sz="2400" dirty="0">
                <a:latin typeface="Helvetica" pitchFamily="2" charset="0"/>
              </a:rPr>
              <a:t>Gains primarily stem from </a:t>
            </a:r>
            <a:r>
              <a:rPr kumimoji="1" lang="en-US" altLang="zh-CN" sz="2400" b="1" dirty="0">
                <a:solidFill>
                  <a:srgbClr val="002060"/>
                </a:solidFill>
                <a:latin typeface="Helvetica" pitchFamily="2" charset="0"/>
              </a:rPr>
              <a:t>improved codebook utilization</a:t>
            </a:r>
            <a:endParaRPr kumimoji="1" lang="en-US" altLang="zh-CN" sz="2400" dirty="0">
              <a:latin typeface="Helvetica" pitchFamily="2"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23700DF-3D99-5BFF-AD64-B750015E593B}"/>
              </a:ext>
            </a:extLst>
          </p:cNvPr>
          <p:cNvSpPr txBox="1"/>
          <p:nvPr/>
        </p:nvSpPr>
        <p:spPr>
          <a:xfrm>
            <a:off x="0" y="2705725"/>
            <a:ext cx="12192000" cy="1446550"/>
          </a:xfrm>
          <a:prstGeom prst="rect">
            <a:avLst/>
          </a:prstGeom>
          <a:noFill/>
        </p:spPr>
        <p:txBody>
          <a:bodyPr wrap="square" rtlCol="0">
            <a:spAutoFit/>
          </a:bodyPr>
          <a:lstStyle/>
          <a:p>
            <a:pPr algn="ctr"/>
            <a:r>
              <a:rPr kumimoji="1" lang="en-US" altLang="zh-CN" sz="8800" b="1" dirty="0">
                <a:latin typeface="Helvetica" pitchFamily="2" charset="0"/>
              </a:rPr>
              <a:t>Thanks</a:t>
            </a:r>
            <a:endParaRPr kumimoji="1" lang="zh-CN" altLang="en-US" sz="8800" b="1" dirty="0">
              <a:latin typeface="Helvetica" pitchFamily="2" charset="0"/>
            </a:endParaRPr>
          </a:p>
        </p:txBody>
      </p:sp>
      <p:sp>
        <p:nvSpPr>
          <p:cNvPr id="5" name="文本框 4">
            <a:extLst>
              <a:ext uri="{FF2B5EF4-FFF2-40B4-BE49-F238E27FC236}">
                <a16:creationId xmlns:a16="http://schemas.microsoft.com/office/drawing/2014/main" id="{634591FC-8FEA-189C-BCBB-956C8CC3F12A}"/>
              </a:ext>
            </a:extLst>
          </p:cNvPr>
          <p:cNvSpPr txBox="1"/>
          <p:nvPr/>
        </p:nvSpPr>
        <p:spPr>
          <a:xfrm>
            <a:off x="11203535" y="6305787"/>
            <a:ext cx="760577" cy="369332"/>
          </a:xfrm>
          <a:prstGeom prst="rect">
            <a:avLst/>
          </a:prstGeom>
          <a:noFill/>
        </p:spPr>
        <p:txBody>
          <a:bodyPr wrap="square" rtlCol="0">
            <a:spAutoFit/>
          </a:bodyPr>
          <a:lstStyle/>
          <a:p>
            <a:r>
              <a:rPr kumimoji="1" lang="en-US" altLang="zh-CN" dirty="0">
                <a:latin typeface="Helvetica" pitchFamily="2" charset="0"/>
              </a:rPr>
              <a:t>20/20</a:t>
            </a:r>
            <a:endParaRPr kumimoji="1" lang="zh-CN" altLang="en-US" dirty="0">
              <a:latin typeface="Helvetica" pitchFamily="2" charset="0"/>
            </a:endParaRPr>
          </a:p>
        </p:txBody>
      </p:sp>
    </p:spTree>
    <p:extLst>
      <p:ext uri="{BB962C8B-B14F-4D97-AF65-F5344CB8AC3E}">
        <p14:creationId xmlns:p14="http://schemas.microsoft.com/office/powerpoint/2010/main" val="118662943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2225">
          <a:solidFill>
            <a:schemeClr val="accent2"/>
          </a:solidFill>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5644</TotalTime>
  <Words>2707</Words>
  <Application>Microsoft Macintosh PowerPoint</Application>
  <PresentationFormat>宽屏</PresentationFormat>
  <Paragraphs>281</Paragraphs>
  <Slides>20</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-apple-system</vt:lpstr>
      <vt:lpstr>等线</vt:lpstr>
      <vt:lpstr>等线 Light</vt:lpstr>
      <vt:lpstr>Arial</vt:lpstr>
      <vt:lpstr>Cambria Math</vt:lpstr>
      <vt:lpstr>Helvetica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移梦 白</dc:creator>
  <cp:lastModifiedBy>baiyimeng.bym</cp:lastModifiedBy>
  <cp:revision>445</cp:revision>
  <dcterms:created xsi:type="dcterms:W3CDTF">2024-06-21T09:19:23Z</dcterms:created>
  <dcterms:modified xsi:type="dcterms:W3CDTF">2026-07-21T12:02:22Z</dcterms:modified>
</cp:coreProperties>
</file>